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topic: Modern Operating System Security. Mention that the operating system is the core software layer managing hardware and applications, making its security essential. State the presentation flow: authentication, encryption, malware protection, and secure boot, ending with a summary. Keep the introduction brief, energetic, and focused on why this topic matters for IT students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OS security as the set of measures protecting the operating system from unauthorized access, misuse, and disruption. Explain that a compromised OS endangers every application and data running on it. Introduce the CIA Triad — Confidentiality, Integrity, Availability — as the three core objectives, referring to the triangle diagram. Briefly mention common threats like malware and unauthorized access, which later slides will expand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authentication as proving 'who you are' using passwords, MFA, biometrics, or OTP — walk through each briefly. Then explain access control as deciding 'what you can do' through user accounts, permissions, RBAC, and the least privilege principle. Use the flow diagram to show the sequence: a user is authenticated, then an access decision is made based on their assigned role and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encryption as converting readable plaintext into unreadable ciphertext using a key. Contrast symmetric encryption (one shared key) with asymmetric encryption (public/private key pair). Explain disk encryption versus file encryption using the lock-and-key diagram. Mention real tools — BitLocker, FileVault, and LUKS — and close with benefits: confidentiality, integrity, and protection of data even if a device is stolen.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common malware types — viruses, worms, trojans, ransomware, and spyware — briefly describing how each behaves or spreads. Then cover protection methods: antivirus software, firewalls, automatic updates, safe browsing habits, and email security. Emphasize that protection works best as layered defense, combining detection tools with safe user behavior, rather than relying on a single safeguard.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Secure Boot as a UEFI firmware feature that ensures a device boots only using software trusted by the manufacturer. Walk through the flowchart: power on, firmware initializes, the bootloader's digital signature is verified, and only then does the operating system load. Highlight that this process blocks bootkits and rootkits from loading before the OS, and note the advantage of a verified, trustworthy startup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five pillars covered: authentication verifies identity, access control limits permissions, encryption protects data, malware protection prevents attacks, and secure boot ensures trusted startup. Read the closing quote aloud to reinforce that OS security is foundational to all computing security. Thank the audience and invite questions, keeping the tone confident and concise to close within the time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B254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0.png"/><Relationship Id="rId13" Type="http://schemas.openxmlformats.org/officeDocument/2006/relationships/image" Target="../media/image-3-13.png"/><Relationship Id="rId14" Type="http://schemas.openxmlformats.org/officeDocument/2006/relationships/slideLayout" Target="../slideLayouts/slideLayout3.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6.png"/><Relationship Id="rId9" Type="http://schemas.openxmlformats.org/officeDocument/2006/relationships/image" Target="../media/image-6-9.png"/><Relationship Id="rId10" Type="http://schemas.openxmlformats.org/officeDocument/2006/relationships/image" Target="../media/image-6-6.png"/><Relationship Id="rId11" Type="http://schemas.openxmlformats.org/officeDocument/2006/relationships/image" Target="../media/image-6-11.png"/><Relationship Id="rId12" Type="http://schemas.openxmlformats.org/officeDocument/2006/relationships/slideLayout" Target="../slideLayouts/slideLayout3.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595360" y="731520"/>
            <a:ext cx="54864" cy="54864"/>
          </a:xfrm>
          <a:prstGeom prst="ellipse">
            <a:avLst/>
          </a:prstGeom>
          <a:solidFill>
            <a:srgbClr val="2E4E77"/>
          </a:solidFill>
          <a:ln/>
        </p:spPr>
      </p:sp>
      <p:sp>
        <p:nvSpPr>
          <p:cNvPr id="3" name="Shape 1"/>
          <p:cNvSpPr/>
          <p:nvPr/>
        </p:nvSpPr>
        <p:spPr>
          <a:xfrm>
            <a:off x="9601200" y="731520"/>
            <a:ext cx="54864" cy="54864"/>
          </a:xfrm>
          <a:prstGeom prst="ellipse">
            <a:avLst/>
          </a:prstGeom>
          <a:solidFill>
            <a:srgbClr val="2E4E77"/>
          </a:solidFill>
          <a:ln/>
        </p:spPr>
      </p:sp>
      <p:sp>
        <p:nvSpPr>
          <p:cNvPr id="4" name="Shape 2"/>
          <p:cNvSpPr/>
          <p:nvPr/>
        </p:nvSpPr>
        <p:spPr>
          <a:xfrm>
            <a:off x="10607040" y="731520"/>
            <a:ext cx="54864" cy="54864"/>
          </a:xfrm>
          <a:prstGeom prst="ellipse">
            <a:avLst/>
          </a:prstGeom>
          <a:solidFill>
            <a:srgbClr val="2E4E77"/>
          </a:solidFill>
          <a:ln/>
        </p:spPr>
      </p:sp>
      <p:sp>
        <p:nvSpPr>
          <p:cNvPr id="5" name="Shape 3"/>
          <p:cNvSpPr/>
          <p:nvPr/>
        </p:nvSpPr>
        <p:spPr>
          <a:xfrm>
            <a:off x="8595360" y="1920240"/>
            <a:ext cx="54864" cy="54864"/>
          </a:xfrm>
          <a:prstGeom prst="ellipse">
            <a:avLst/>
          </a:prstGeom>
          <a:solidFill>
            <a:srgbClr val="2E4E77"/>
          </a:solidFill>
          <a:ln/>
        </p:spPr>
      </p:sp>
      <p:sp>
        <p:nvSpPr>
          <p:cNvPr id="6" name="Shape 4"/>
          <p:cNvSpPr/>
          <p:nvPr/>
        </p:nvSpPr>
        <p:spPr>
          <a:xfrm>
            <a:off x="9601200" y="1920240"/>
            <a:ext cx="54864" cy="54864"/>
          </a:xfrm>
          <a:prstGeom prst="ellipse">
            <a:avLst/>
          </a:prstGeom>
          <a:solidFill>
            <a:srgbClr val="2E4E77"/>
          </a:solidFill>
          <a:ln/>
        </p:spPr>
      </p:sp>
      <p:sp>
        <p:nvSpPr>
          <p:cNvPr id="7" name="Shape 5"/>
          <p:cNvSpPr/>
          <p:nvPr/>
        </p:nvSpPr>
        <p:spPr>
          <a:xfrm>
            <a:off x="9052560" y="1188720"/>
            <a:ext cx="2011680" cy="0"/>
          </a:xfrm>
          <a:prstGeom prst="line">
            <a:avLst/>
          </a:prstGeom>
          <a:noFill/>
          <a:ln w="12700">
            <a:solidFill>
              <a:srgbClr val="1D3A5F"/>
            </a:solidFill>
            <a:prstDash val="solid"/>
          </a:ln>
        </p:spPr>
      </p:sp>
      <p:sp>
        <p:nvSpPr>
          <p:cNvPr id="8" name="Shape 6"/>
          <p:cNvSpPr/>
          <p:nvPr/>
        </p:nvSpPr>
        <p:spPr>
          <a:xfrm>
            <a:off x="9326880" y="2377440"/>
            <a:ext cx="1554480" cy="0"/>
          </a:xfrm>
          <a:prstGeom prst="line">
            <a:avLst/>
          </a:prstGeom>
          <a:noFill/>
          <a:ln w="12700">
            <a:solidFill>
              <a:srgbClr val="1D3A5F"/>
            </a:solidFill>
            <a:prstDash val="solid"/>
          </a:ln>
        </p:spPr>
      </p:sp>
      <p:sp>
        <p:nvSpPr>
          <p:cNvPr id="9" name="Shape 7"/>
          <p:cNvSpPr/>
          <p:nvPr/>
        </p:nvSpPr>
        <p:spPr>
          <a:xfrm>
            <a:off x="8732520" y="1371600"/>
            <a:ext cx="2834640" cy="4023360"/>
          </a:xfrm>
          <a:prstGeom prst="roundRect">
            <a:avLst>
              <a:gd name="adj" fmla="val 5806"/>
            </a:avLst>
          </a:prstGeom>
          <a:solidFill>
            <a:srgbClr val="13315C"/>
          </a:solidFill>
          <a:ln w="12700">
            <a:solidFill>
              <a:srgbClr val="234771"/>
            </a:solidFill>
            <a:prstDash val="solid"/>
          </a:ln>
        </p:spPr>
      </p:sp>
      <p:sp>
        <p:nvSpPr>
          <p:cNvPr id="10" name="Shape 8"/>
          <p:cNvSpPr/>
          <p:nvPr/>
        </p:nvSpPr>
        <p:spPr>
          <a:xfrm>
            <a:off x="9509760" y="1828800"/>
            <a:ext cx="1280160" cy="1280160"/>
          </a:xfrm>
          <a:prstGeom prst="ellipse">
            <a:avLst/>
          </a:prstGeom>
          <a:solidFill>
            <a:srgbClr val="17406B"/>
          </a:solidFill>
          <a:ln/>
        </p:spPr>
      </p:sp>
      <p:pic>
        <p:nvPicPr>
          <p:cNvPr id="11" name="Image 0" descr="/home/claude/osec/icons/shield_cyan.png">    </p:cNvPr>
          <p:cNvPicPr>
            <a:picLocks noChangeAspect="1"/>
          </p:cNvPicPr>
          <p:nvPr/>
        </p:nvPicPr>
        <p:blipFill>
          <a:blip r:embed="rId1"/>
          <a:stretch>
            <a:fillRect/>
          </a:stretch>
        </p:blipFill>
        <p:spPr>
          <a:xfrm>
            <a:off x="9765792" y="2084832"/>
            <a:ext cx="768096" cy="768096"/>
          </a:xfrm>
          <a:prstGeom prst="rect">
            <a:avLst/>
          </a:prstGeom>
        </p:spPr>
      </p:pic>
      <p:sp>
        <p:nvSpPr>
          <p:cNvPr id="12" name="Shape 9"/>
          <p:cNvSpPr/>
          <p:nvPr/>
        </p:nvSpPr>
        <p:spPr>
          <a:xfrm>
            <a:off x="9189720" y="3291840"/>
            <a:ext cx="868680" cy="868680"/>
          </a:xfrm>
          <a:prstGeom prst="ellipse">
            <a:avLst/>
          </a:prstGeom>
          <a:solidFill>
            <a:srgbClr val="0F335A"/>
          </a:solidFill>
          <a:ln/>
        </p:spPr>
      </p:sp>
      <p:pic>
        <p:nvPicPr>
          <p:cNvPr id="13" name="Image 1" descr="/home/claude/osec/icons/lock_white.png">    </p:cNvPr>
          <p:cNvPicPr>
            <a:picLocks noChangeAspect="1"/>
          </p:cNvPicPr>
          <p:nvPr/>
        </p:nvPicPr>
        <p:blipFill>
          <a:blip r:embed="rId2"/>
          <a:stretch>
            <a:fillRect/>
          </a:stretch>
        </p:blipFill>
        <p:spPr>
          <a:xfrm>
            <a:off x="9385173" y="3487293"/>
            <a:ext cx="477774" cy="477774"/>
          </a:xfrm>
          <a:prstGeom prst="rect">
            <a:avLst/>
          </a:prstGeom>
        </p:spPr>
      </p:pic>
      <p:sp>
        <p:nvSpPr>
          <p:cNvPr id="14" name="Shape 10"/>
          <p:cNvSpPr/>
          <p:nvPr/>
        </p:nvSpPr>
        <p:spPr>
          <a:xfrm>
            <a:off x="10195560" y="3291840"/>
            <a:ext cx="868680" cy="868680"/>
          </a:xfrm>
          <a:prstGeom prst="ellipse">
            <a:avLst/>
          </a:prstGeom>
          <a:solidFill>
            <a:srgbClr val="0F335A"/>
          </a:solidFill>
          <a:ln/>
        </p:spPr>
      </p:sp>
      <p:pic>
        <p:nvPicPr>
          <p:cNvPr id="15" name="Image 2" descr="/home/claude/osec/icons/network_white.png">    </p:cNvPr>
          <p:cNvPicPr>
            <a:picLocks noChangeAspect="1"/>
          </p:cNvPicPr>
          <p:nvPr/>
        </p:nvPicPr>
        <p:blipFill>
          <a:blip r:embed="rId3"/>
          <a:stretch>
            <a:fillRect/>
          </a:stretch>
        </p:blipFill>
        <p:spPr>
          <a:xfrm>
            <a:off x="10391013" y="3487293"/>
            <a:ext cx="477774" cy="477774"/>
          </a:xfrm>
          <a:prstGeom prst="rect">
            <a:avLst/>
          </a:prstGeom>
        </p:spPr>
      </p:pic>
      <p:sp>
        <p:nvSpPr>
          <p:cNvPr id="16" name="Shape 11"/>
          <p:cNvSpPr/>
          <p:nvPr/>
        </p:nvSpPr>
        <p:spPr>
          <a:xfrm>
            <a:off x="9692640" y="4297680"/>
            <a:ext cx="868680" cy="868680"/>
          </a:xfrm>
          <a:prstGeom prst="ellipse">
            <a:avLst/>
          </a:prstGeom>
          <a:solidFill>
            <a:srgbClr val="0F335A"/>
          </a:solidFill>
          <a:ln/>
        </p:spPr>
      </p:sp>
      <p:pic>
        <p:nvPicPr>
          <p:cNvPr id="17" name="Image 3" descr="/home/claude/osec/icons/desktop_white.png">    </p:cNvPr>
          <p:cNvPicPr>
            <a:picLocks noChangeAspect="1"/>
          </p:cNvPicPr>
          <p:nvPr/>
        </p:nvPicPr>
        <p:blipFill>
          <a:blip r:embed="rId4"/>
          <a:stretch>
            <a:fillRect/>
          </a:stretch>
        </p:blipFill>
        <p:spPr>
          <a:xfrm>
            <a:off x="9888093" y="4493133"/>
            <a:ext cx="477774" cy="477774"/>
          </a:xfrm>
          <a:prstGeom prst="rect">
            <a:avLst/>
          </a:prstGeom>
        </p:spPr>
      </p:pic>
      <p:sp>
        <p:nvSpPr>
          <p:cNvPr id="18" name="Text 12"/>
          <p:cNvSpPr/>
          <p:nvPr/>
        </p:nvSpPr>
        <p:spPr>
          <a:xfrm>
            <a:off x="640080" y="1965960"/>
            <a:ext cx="7589520" cy="365760"/>
          </a:xfrm>
          <a:prstGeom prst="rect">
            <a:avLst/>
          </a:prstGeom>
          <a:noFill/>
          <a:ln/>
        </p:spPr>
        <p:txBody>
          <a:bodyPr wrap="square" rtlCol="0" anchor="ctr"/>
          <a:lstStyle/>
          <a:p>
            <a:pPr indent="0" marL="0">
              <a:buNone/>
            </a:pPr>
            <a:r>
              <a:rPr lang="en-US" sz="1400" b="1" spc="300" kern="0" dirty="0">
                <a:solidFill>
                  <a:srgbClr val="00B4D8"/>
                </a:solidFill>
                <a:latin typeface="Calibri" pitchFamily="34" charset="0"/>
                <a:ea typeface="Calibri" pitchFamily="34" charset="-122"/>
                <a:cs typeface="Calibri" pitchFamily="34" charset="-120"/>
              </a:rPr>
              <a:t>OPERATING SYSTEM SECURITY</a:t>
            </a:r>
            <a:endParaRPr lang="en-US" sz="1400" dirty="0"/>
          </a:p>
        </p:txBody>
      </p:sp>
      <p:sp>
        <p:nvSpPr>
          <p:cNvPr id="19" name="Text 13"/>
          <p:cNvSpPr/>
          <p:nvPr/>
        </p:nvSpPr>
        <p:spPr>
          <a:xfrm>
            <a:off x="594360" y="2331720"/>
            <a:ext cx="7772400" cy="173736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Modern Operating System</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Security</a:t>
            </a:r>
            <a:endParaRPr lang="en-US" sz="4000" dirty="0"/>
          </a:p>
        </p:txBody>
      </p:sp>
      <p:sp>
        <p:nvSpPr>
          <p:cNvPr id="20" name="Shape 14"/>
          <p:cNvSpPr/>
          <p:nvPr/>
        </p:nvSpPr>
        <p:spPr>
          <a:xfrm>
            <a:off x="640080" y="4160520"/>
            <a:ext cx="2377440" cy="32004"/>
          </a:xfrm>
          <a:prstGeom prst="rect">
            <a:avLst/>
          </a:prstGeom>
          <a:solidFill>
            <a:srgbClr val="3A6EA5"/>
          </a:solidFill>
          <a:ln/>
        </p:spPr>
      </p:sp>
      <p:sp>
        <p:nvSpPr>
          <p:cNvPr id="21" name="Text 15"/>
          <p:cNvSpPr/>
          <p:nvPr/>
        </p:nvSpPr>
        <p:spPr>
          <a:xfrm>
            <a:off x="640080" y="4297680"/>
            <a:ext cx="6858000" cy="1737360"/>
          </a:xfrm>
          <a:prstGeom prst="rect">
            <a:avLst/>
          </a:prstGeom>
          <a:noFill/>
          <a:ln/>
        </p:spPr>
        <p:txBody>
          <a:bodyPr wrap="square" lIns="0" tIns="0" rIns="0" bIns="0" rtlCol="0" anchor="ctr"/>
          <a:lstStyle/>
          <a:p>
            <a:pPr indent="0" marL="0">
              <a:lnSpc>
                <a:spcPct val="130000"/>
              </a:lnSpc>
              <a:buNone/>
            </a:pPr>
            <a:r>
              <a:rPr lang="en-US" sz="1500" b="1" dirty="0">
                <a:solidFill>
                  <a:srgbClr val="FFFFFF"/>
                </a:solidFill>
                <a:latin typeface="Calibri" pitchFamily="34" charset="0"/>
                <a:ea typeface="Calibri" pitchFamily="34" charset="-122"/>
                <a:cs typeface="Calibri" pitchFamily="34" charset="-120"/>
              </a:rPr>
              <a:t>K PRATHIKA</a:t>
            </a:r>
            <a:endParaRPr lang="en-US" sz="1500" dirty="0"/>
          </a:p>
          <a:p>
            <a:pPr indent="0" marL="0">
              <a:lnSpc>
                <a:spcPct val="130000"/>
              </a:lnSpc>
              <a:buNone/>
            </a:pPr>
            <a:r>
              <a:rPr lang="en-US" sz="1500" dirty="0">
                <a:solidFill>
                  <a:srgbClr val="C7D6E8"/>
                </a:solidFill>
                <a:latin typeface="Calibri" pitchFamily="34" charset="0"/>
                <a:ea typeface="Calibri" pitchFamily="34" charset="-122"/>
                <a:cs typeface="Calibri" pitchFamily="34" charset="-120"/>
              </a:rPr>
              <a:t>Register No: 192421357</a:t>
            </a:r>
            <a:endParaRPr lang="en-US" sz="1500" dirty="0"/>
          </a:p>
          <a:p>
            <a:pPr indent="0" marL="0">
              <a:lnSpc>
                <a:spcPct val="130000"/>
              </a:lnSpc>
              <a:buNone/>
            </a:pPr>
            <a:r>
              <a:rPr lang="en-US" sz="1500" dirty="0">
                <a:solidFill>
                  <a:srgbClr val="C7D6E8"/>
                </a:solidFill>
                <a:latin typeface="Calibri" pitchFamily="34" charset="0"/>
                <a:ea typeface="Calibri" pitchFamily="34" charset="-122"/>
                <a:cs typeface="Calibri" pitchFamily="34" charset="-120"/>
              </a:rPr>
              <a:t>Department of Information Technology</a:t>
            </a:r>
            <a:endParaRPr lang="en-US" sz="1500" dirty="0"/>
          </a:p>
          <a:p>
            <a:pPr indent="0" marL="0">
              <a:lnSpc>
                <a:spcPct val="130000"/>
              </a:lnSpc>
              <a:buNone/>
            </a:pPr>
            <a:r>
              <a:rPr lang="en-US" sz="1500" dirty="0">
                <a:solidFill>
                  <a:srgbClr val="C7D6E8"/>
                </a:solidFill>
                <a:latin typeface="Calibri" pitchFamily="34" charset="0"/>
                <a:ea typeface="Calibri" pitchFamily="34" charset="-122"/>
                <a:cs typeface="Calibri" pitchFamily="34" charset="-120"/>
              </a:rPr>
              <a:t>College Name</a:t>
            </a:r>
            <a:endParaRPr lang="en-US" sz="1500" dirty="0"/>
          </a:p>
          <a:p>
            <a:pPr indent="0" marL="0">
              <a:lnSpc>
                <a:spcPct val="130000"/>
              </a:lnSpc>
              <a:buNone/>
            </a:pPr>
            <a:r>
              <a:rPr lang="en-US" sz="1500" dirty="0">
                <a:solidFill>
                  <a:srgbClr val="8FB1D6"/>
                </a:solidFill>
                <a:latin typeface="Calibri" pitchFamily="34" charset="0"/>
                <a:ea typeface="Calibri" pitchFamily="34" charset="-122"/>
                <a:cs typeface="Calibri" pitchFamily="34" charset="-120"/>
              </a:rPr>
              <a:t>Course Code: CSA0404 — Operating Systems</a:t>
            </a:r>
            <a:endParaRPr lang="en-US" sz="1500" dirty="0"/>
          </a:p>
        </p:txBody>
      </p:sp>
      <p:sp>
        <p:nvSpPr>
          <p:cNvPr id="22" name="Text 16"/>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AFC6E0"/>
                </a:solidFill>
                <a:latin typeface="Calibri" pitchFamily="34" charset="0"/>
                <a:ea typeface="Calibri" pitchFamily="34" charset="-122"/>
                <a:cs typeface="Calibri" pitchFamily="34" charset="-120"/>
              </a:rPr>
              <a:t>1</a:t>
            </a:r>
            <a:endParaRPr lang="en-US" sz="1100" dirty="0"/>
          </a:p>
        </p:txBody>
      </p:sp>
      <p:sp>
        <p:nvSpPr>
          <p:cNvPr id="23" name="Text 17"/>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C8CB5"/>
                </a:solidFill>
                <a:latin typeface="Calibri" pitchFamily="34" charset="0"/>
                <a:ea typeface="Calibri" pitchFamily="34" charset="-122"/>
                <a:cs typeface="Calibri" pitchFamily="34" charset="-120"/>
              </a:rPr>
              <a:t>Modern Operating System Security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Introduction to OS Security</a:t>
            </a:r>
            <a:endParaRPr lang="en-US" sz="3000" dirty="0"/>
          </a:p>
        </p:txBody>
      </p:sp>
      <p:sp>
        <p:nvSpPr>
          <p:cNvPr id="3" name="Text 1"/>
          <p:cNvSpPr/>
          <p:nvPr/>
        </p:nvSpPr>
        <p:spPr>
          <a:xfrm>
            <a:off x="548640" y="914400"/>
            <a:ext cx="6949440" cy="320040"/>
          </a:xfrm>
          <a:prstGeom prst="rect">
            <a:avLst/>
          </a:prstGeom>
          <a:noFill/>
          <a:ln/>
        </p:spPr>
        <p:txBody>
          <a:bodyPr wrap="square" rtlCol="0" anchor="ctr"/>
          <a:lstStyle/>
          <a:p>
            <a:pPr indent="0" marL="0">
              <a:buNone/>
            </a:pPr>
            <a:r>
              <a:rPr lang="en-US" sz="1300" i="1" dirty="0">
                <a:solidFill>
                  <a:srgbClr val="5B6B7A"/>
                </a:solidFill>
                <a:latin typeface="Calibri" pitchFamily="34" charset="0"/>
                <a:ea typeface="Calibri" pitchFamily="34" charset="-122"/>
                <a:cs typeface="Calibri" pitchFamily="34" charset="-120"/>
              </a:rPr>
              <a:t>Why the operating system is the first line of defense</a:t>
            </a:r>
            <a:endParaRPr lang="en-US" sz="1300" dirty="0"/>
          </a:p>
        </p:txBody>
      </p:sp>
      <p:sp>
        <p:nvSpPr>
          <p:cNvPr id="4" name="Shape 2"/>
          <p:cNvSpPr/>
          <p:nvPr/>
        </p:nvSpPr>
        <p:spPr>
          <a:xfrm>
            <a:off x="548640" y="1417320"/>
            <a:ext cx="457200" cy="457200"/>
          </a:xfrm>
          <a:prstGeom prst="ellipse">
            <a:avLst/>
          </a:prstGeom>
          <a:solidFill>
            <a:srgbClr val="E8F1FB"/>
          </a:solidFill>
          <a:ln/>
        </p:spPr>
      </p:sp>
      <p:pic>
        <p:nvPicPr>
          <p:cNvPr id="5" name="Image 0" descr="/home/claude/osec/icons/shield_steel.png">    </p:cNvPr>
          <p:cNvPicPr>
            <a:picLocks noChangeAspect="1"/>
          </p:cNvPicPr>
          <p:nvPr/>
        </p:nvPicPr>
        <p:blipFill>
          <a:blip r:embed="rId1"/>
          <a:stretch>
            <a:fillRect/>
          </a:stretch>
        </p:blipFill>
        <p:spPr>
          <a:xfrm>
            <a:off x="649224" y="1517904"/>
            <a:ext cx="256032" cy="256032"/>
          </a:xfrm>
          <a:prstGeom prst="rect">
            <a:avLst/>
          </a:prstGeom>
        </p:spPr>
      </p:pic>
      <p:sp>
        <p:nvSpPr>
          <p:cNvPr id="6" name="Text 3"/>
          <p:cNvSpPr/>
          <p:nvPr/>
        </p:nvSpPr>
        <p:spPr>
          <a:xfrm>
            <a:off x="1170432" y="138988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What is OS Security?</a:t>
            </a:r>
            <a:endParaRPr lang="en-US" sz="1450" dirty="0"/>
          </a:p>
        </p:txBody>
      </p:sp>
      <p:sp>
        <p:nvSpPr>
          <p:cNvPr id="7" name="Text 4"/>
          <p:cNvSpPr/>
          <p:nvPr/>
        </p:nvSpPr>
        <p:spPr>
          <a:xfrm>
            <a:off x="1170432" y="166420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Techniques and controls that protect the OS from unauthorized access, misuse, and damage.</a:t>
            </a:r>
            <a:endParaRPr lang="en-US" sz="1150" dirty="0"/>
          </a:p>
        </p:txBody>
      </p:sp>
      <p:sp>
        <p:nvSpPr>
          <p:cNvPr id="8" name="Shape 5"/>
          <p:cNvSpPr/>
          <p:nvPr/>
        </p:nvSpPr>
        <p:spPr>
          <a:xfrm>
            <a:off x="548640" y="2377440"/>
            <a:ext cx="457200" cy="457200"/>
          </a:xfrm>
          <a:prstGeom prst="ellipse">
            <a:avLst/>
          </a:prstGeom>
          <a:solidFill>
            <a:srgbClr val="E8F1FB"/>
          </a:solidFill>
          <a:ln/>
        </p:spPr>
      </p:sp>
      <p:pic>
        <p:nvPicPr>
          <p:cNvPr id="9" name="Image 1" descr="/home/claude/osec/icons/checkCircle_steel.png">    </p:cNvPr>
          <p:cNvPicPr>
            <a:picLocks noChangeAspect="1"/>
          </p:cNvPicPr>
          <p:nvPr/>
        </p:nvPicPr>
        <p:blipFill>
          <a:blip r:embed="rId2"/>
          <a:stretch>
            <a:fillRect/>
          </a:stretch>
        </p:blipFill>
        <p:spPr>
          <a:xfrm>
            <a:off x="649224" y="2478024"/>
            <a:ext cx="256032" cy="256032"/>
          </a:xfrm>
          <a:prstGeom prst="rect">
            <a:avLst/>
          </a:prstGeom>
        </p:spPr>
      </p:pic>
      <p:sp>
        <p:nvSpPr>
          <p:cNvPr id="10" name="Text 6"/>
          <p:cNvSpPr/>
          <p:nvPr/>
        </p:nvSpPr>
        <p:spPr>
          <a:xfrm>
            <a:off x="1170432" y="235000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Why it Matters</a:t>
            </a:r>
            <a:endParaRPr lang="en-US" sz="1450" dirty="0"/>
          </a:p>
        </p:txBody>
      </p:sp>
      <p:sp>
        <p:nvSpPr>
          <p:cNvPr id="11" name="Text 7"/>
          <p:cNvSpPr/>
          <p:nvPr/>
        </p:nvSpPr>
        <p:spPr>
          <a:xfrm>
            <a:off x="1170432" y="262432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The OS manages all hardware &amp; data — if compromised, every application on top is at risk.</a:t>
            </a:r>
            <a:endParaRPr lang="en-US" sz="1150" dirty="0"/>
          </a:p>
        </p:txBody>
      </p:sp>
      <p:sp>
        <p:nvSpPr>
          <p:cNvPr id="12" name="Shape 8"/>
          <p:cNvSpPr/>
          <p:nvPr/>
        </p:nvSpPr>
        <p:spPr>
          <a:xfrm>
            <a:off x="548640" y="3337560"/>
            <a:ext cx="457200" cy="457200"/>
          </a:xfrm>
          <a:prstGeom prst="ellipse">
            <a:avLst/>
          </a:prstGeom>
          <a:solidFill>
            <a:srgbClr val="E8F1FB"/>
          </a:solidFill>
          <a:ln/>
        </p:spPr>
      </p:sp>
      <p:pic>
        <p:nvPicPr>
          <p:cNvPr id="13" name="Image 2" descr="/home/claude/osec/icons/bug_steel.png">    </p:cNvPr>
          <p:cNvPicPr>
            <a:picLocks noChangeAspect="1"/>
          </p:cNvPicPr>
          <p:nvPr/>
        </p:nvPicPr>
        <p:blipFill>
          <a:blip r:embed="rId3"/>
          <a:stretch>
            <a:fillRect/>
          </a:stretch>
        </p:blipFill>
        <p:spPr>
          <a:xfrm>
            <a:off x="649224" y="3438144"/>
            <a:ext cx="256032" cy="256032"/>
          </a:xfrm>
          <a:prstGeom prst="rect">
            <a:avLst/>
          </a:prstGeom>
        </p:spPr>
      </p:pic>
      <p:sp>
        <p:nvSpPr>
          <p:cNvPr id="14" name="Text 9"/>
          <p:cNvSpPr/>
          <p:nvPr/>
        </p:nvSpPr>
        <p:spPr>
          <a:xfrm>
            <a:off x="1170432" y="331012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Common Threats</a:t>
            </a:r>
            <a:endParaRPr lang="en-US" sz="1450" dirty="0"/>
          </a:p>
        </p:txBody>
      </p:sp>
      <p:sp>
        <p:nvSpPr>
          <p:cNvPr id="15" name="Text 10"/>
          <p:cNvSpPr/>
          <p:nvPr/>
        </p:nvSpPr>
        <p:spPr>
          <a:xfrm>
            <a:off x="1170432" y="358444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Malware, unauthorized access, privilege escalation, and network-based intrusions.</a:t>
            </a:r>
            <a:endParaRPr lang="en-US" sz="1150" dirty="0"/>
          </a:p>
        </p:txBody>
      </p:sp>
      <p:sp>
        <p:nvSpPr>
          <p:cNvPr id="16" name="Shape 11"/>
          <p:cNvSpPr/>
          <p:nvPr/>
        </p:nvSpPr>
        <p:spPr>
          <a:xfrm>
            <a:off x="548640" y="4297680"/>
            <a:ext cx="457200" cy="457200"/>
          </a:xfrm>
          <a:prstGeom prst="ellipse">
            <a:avLst/>
          </a:prstGeom>
          <a:solidFill>
            <a:srgbClr val="E8F1FB"/>
          </a:solidFill>
          <a:ln/>
        </p:spPr>
      </p:sp>
      <p:pic>
        <p:nvPicPr>
          <p:cNvPr id="17" name="Image 3" descr="/home/claude/osec/icons/userShield_steel.png">    </p:cNvPr>
          <p:cNvPicPr>
            <a:picLocks noChangeAspect="1"/>
          </p:cNvPicPr>
          <p:nvPr/>
        </p:nvPicPr>
        <p:blipFill>
          <a:blip r:embed="rId4"/>
          <a:stretch>
            <a:fillRect/>
          </a:stretch>
        </p:blipFill>
        <p:spPr>
          <a:xfrm>
            <a:off x="649224" y="4398264"/>
            <a:ext cx="256032" cy="256032"/>
          </a:xfrm>
          <a:prstGeom prst="rect">
            <a:avLst/>
          </a:prstGeom>
        </p:spPr>
      </p:pic>
      <p:sp>
        <p:nvSpPr>
          <p:cNvPr id="18" name="Text 12"/>
          <p:cNvSpPr/>
          <p:nvPr/>
        </p:nvSpPr>
        <p:spPr>
          <a:xfrm>
            <a:off x="1170432" y="427024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Security Objectives</a:t>
            </a:r>
            <a:endParaRPr lang="en-US" sz="1450" dirty="0"/>
          </a:p>
        </p:txBody>
      </p:sp>
      <p:sp>
        <p:nvSpPr>
          <p:cNvPr id="19" name="Text 13"/>
          <p:cNvSpPr/>
          <p:nvPr/>
        </p:nvSpPr>
        <p:spPr>
          <a:xfrm>
            <a:off x="1170432" y="454456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Every control aims to uphold the CIA Triad shown alongside.</a:t>
            </a:r>
            <a:endParaRPr lang="en-US" sz="1150" dirty="0"/>
          </a:p>
        </p:txBody>
      </p:sp>
      <p:sp>
        <p:nvSpPr>
          <p:cNvPr id="20" name="Shape 14"/>
          <p:cNvSpPr/>
          <p:nvPr/>
        </p:nvSpPr>
        <p:spPr>
          <a:xfrm>
            <a:off x="7452360" y="1371600"/>
            <a:ext cx="4160520" cy="4892040"/>
          </a:xfrm>
          <a:prstGeom prst="roundRect">
            <a:avLst>
              <a:gd name="adj" fmla="val 3077"/>
            </a:avLst>
          </a:prstGeom>
          <a:solidFill>
            <a:srgbClr val="E8F1FB"/>
          </a:solidFill>
          <a:ln/>
        </p:spPr>
      </p:sp>
      <p:sp>
        <p:nvSpPr>
          <p:cNvPr id="21" name="Text 15"/>
          <p:cNvSpPr/>
          <p:nvPr/>
        </p:nvSpPr>
        <p:spPr>
          <a:xfrm>
            <a:off x="7452360" y="1572768"/>
            <a:ext cx="4160520" cy="365760"/>
          </a:xfrm>
          <a:prstGeom prst="rect">
            <a:avLst/>
          </a:prstGeom>
          <a:noFill/>
          <a:ln/>
        </p:spPr>
        <p:txBody>
          <a:bodyPr wrap="square" rtlCol="0" anchor="ctr"/>
          <a:lstStyle/>
          <a:p>
            <a:pPr algn="ctr" indent="0" marL="0">
              <a:buNone/>
            </a:pPr>
            <a:r>
              <a:rPr lang="en-US" sz="1500" b="1" spc="200" kern="0" dirty="0">
                <a:solidFill>
                  <a:srgbClr val="0B2545"/>
                </a:solidFill>
                <a:latin typeface="Calibri" pitchFamily="34" charset="0"/>
                <a:ea typeface="Calibri" pitchFamily="34" charset="-122"/>
                <a:cs typeface="Calibri" pitchFamily="34" charset="-120"/>
              </a:rPr>
              <a:t>CIA TRIAD</a:t>
            </a:r>
            <a:endParaRPr lang="en-US" sz="1500" dirty="0"/>
          </a:p>
        </p:txBody>
      </p:sp>
      <p:sp>
        <p:nvSpPr>
          <p:cNvPr id="22" name="Shape 16"/>
          <p:cNvSpPr/>
          <p:nvPr/>
        </p:nvSpPr>
        <p:spPr>
          <a:xfrm>
            <a:off x="9528048" y="2148840"/>
            <a:ext cx="-1600200" cy="2926080"/>
          </a:xfrm>
          <a:prstGeom prst="line">
            <a:avLst/>
          </a:prstGeom>
          <a:noFill/>
          <a:ln w="31750">
            <a:solidFill>
              <a:srgbClr val="3A6EA5"/>
            </a:solidFill>
            <a:prstDash val="solid"/>
          </a:ln>
        </p:spPr>
      </p:sp>
      <p:sp>
        <p:nvSpPr>
          <p:cNvPr id="23" name="Shape 17"/>
          <p:cNvSpPr/>
          <p:nvPr/>
        </p:nvSpPr>
        <p:spPr>
          <a:xfrm>
            <a:off x="9528048" y="2148840"/>
            <a:ext cx="1600200" cy="2926080"/>
          </a:xfrm>
          <a:prstGeom prst="line">
            <a:avLst/>
          </a:prstGeom>
          <a:noFill/>
          <a:ln w="31750">
            <a:solidFill>
              <a:srgbClr val="3A6EA5"/>
            </a:solidFill>
            <a:prstDash val="solid"/>
          </a:ln>
        </p:spPr>
      </p:sp>
      <p:sp>
        <p:nvSpPr>
          <p:cNvPr id="24" name="Shape 18"/>
          <p:cNvSpPr/>
          <p:nvPr/>
        </p:nvSpPr>
        <p:spPr>
          <a:xfrm>
            <a:off x="7927848" y="5074920"/>
            <a:ext cx="3200400" cy="0"/>
          </a:xfrm>
          <a:prstGeom prst="line">
            <a:avLst/>
          </a:prstGeom>
          <a:noFill/>
          <a:ln w="31750">
            <a:solidFill>
              <a:srgbClr val="3A6EA5"/>
            </a:solidFill>
            <a:prstDash val="solid"/>
          </a:ln>
        </p:spPr>
      </p:sp>
      <p:sp>
        <p:nvSpPr>
          <p:cNvPr id="25" name="Shape 19"/>
          <p:cNvSpPr/>
          <p:nvPr/>
        </p:nvSpPr>
        <p:spPr>
          <a:xfrm>
            <a:off x="9070848" y="1645920"/>
            <a:ext cx="914400" cy="914400"/>
          </a:xfrm>
          <a:prstGeom prst="ellipse">
            <a:avLst/>
          </a:prstGeom>
          <a:solidFill>
            <a:srgbClr val="0B2545"/>
          </a:solidFill>
          <a:ln/>
        </p:spPr>
      </p:sp>
      <p:pic>
        <p:nvPicPr>
          <p:cNvPr id="26" name="Image 4" descr="/home/claude/osec/icons/eyeSlash_white.png">    </p:cNvPr>
          <p:cNvPicPr>
            <a:picLocks noChangeAspect="1"/>
          </p:cNvPicPr>
          <p:nvPr/>
        </p:nvPicPr>
        <p:blipFill>
          <a:blip r:embed="rId5"/>
          <a:stretch>
            <a:fillRect/>
          </a:stretch>
        </p:blipFill>
        <p:spPr>
          <a:xfrm>
            <a:off x="9276588" y="1851660"/>
            <a:ext cx="502920" cy="502920"/>
          </a:xfrm>
          <a:prstGeom prst="rect">
            <a:avLst/>
          </a:prstGeom>
        </p:spPr>
      </p:pic>
      <p:sp>
        <p:nvSpPr>
          <p:cNvPr id="27" name="Text 20"/>
          <p:cNvSpPr/>
          <p:nvPr/>
        </p:nvSpPr>
        <p:spPr>
          <a:xfrm>
            <a:off x="8339328" y="2606040"/>
            <a:ext cx="2377440" cy="27432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Confidentiality</a:t>
            </a:r>
            <a:endParaRPr lang="en-US" sz="1200" dirty="0"/>
          </a:p>
        </p:txBody>
      </p:sp>
      <p:sp>
        <p:nvSpPr>
          <p:cNvPr id="28" name="Shape 21"/>
          <p:cNvSpPr/>
          <p:nvPr/>
        </p:nvSpPr>
        <p:spPr>
          <a:xfrm>
            <a:off x="7470648" y="4937760"/>
            <a:ext cx="914400" cy="914400"/>
          </a:xfrm>
          <a:prstGeom prst="ellipse">
            <a:avLst/>
          </a:prstGeom>
          <a:solidFill>
            <a:srgbClr val="0B2545"/>
          </a:solidFill>
          <a:ln/>
        </p:spPr>
      </p:sp>
      <p:pic>
        <p:nvPicPr>
          <p:cNvPr id="29" name="Image 5" descr="/home/claude/osec/icons/checkCircle_white.png">    </p:cNvPr>
          <p:cNvPicPr>
            <a:picLocks noChangeAspect="1"/>
          </p:cNvPicPr>
          <p:nvPr/>
        </p:nvPicPr>
        <p:blipFill>
          <a:blip r:embed="rId6"/>
          <a:stretch>
            <a:fillRect/>
          </a:stretch>
        </p:blipFill>
        <p:spPr>
          <a:xfrm>
            <a:off x="7676388" y="5143500"/>
            <a:ext cx="502920" cy="502920"/>
          </a:xfrm>
          <a:prstGeom prst="rect">
            <a:avLst/>
          </a:prstGeom>
        </p:spPr>
      </p:pic>
      <p:sp>
        <p:nvSpPr>
          <p:cNvPr id="30" name="Text 22"/>
          <p:cNvSpPr/>
          <p:nvPr/>
        </p:nvSpPr>
        <p:spPr>
          <a:xfrm>
            <a:off x="6967728" y="5897880"/>
            <a:ext cx="1920240" cy="27432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Integrity</a:t>
            </a:r>
            <a:endParaRPr lang="en-US" sz="1200" dirty="0"/>
          </a:p>
        </p:txBody>
      </p:sp>
      <p:sp>
        <p:nvSpPr>
          <p:cNvPr id="31" name="Shape 23"/>
          <p:cNvSpPr/>
          <p:nvPr/>
        </p:nvSpPr>
        <p:spPr>
          <a:xfrm>
            <a:off x="10671048" y="4937760"/>
            <a:ext cx="914400" cy="914400"/>
          </a:xfrm>
          <a:prstGeom prst="ellipse">
            <a:avLst/>
          </a:prstGeom>
          <a:solidFill>
            <a:srgbClr val="0B2545"/>
          </a:solidFill>
          <a:ln/>
        </p:spPr>
      </p:sp>
      <p:pic>
        <p:nvPicPr>
          <p:cNvPr id="32" name="Image 6" descr="/home/claude/osec/icons/server_white.png">    </p:cNvPr>
          <p:cNvPicPr>
            <a:picLocks noChangeAspect="1"/>
          </p:cNvPicPr>
          <p:nvPr/>
        </p:nvPicPr>
        <p:blipFill>
          <a:blip r:embed="rId7"/>
          <a:stretch>
            <a:fillRect/>
          </a:stretch>
        </p:blipFill>
        <p:spPr>
          <a:xfrm>
            <a:off x="10876788" y="5143500"/>
            <a:ext cx="502920" cy="502920"/>
          </a:xfrm>
          <a:prstGeom prst="rect">
            <a:avLst/>
          </a:prstGeom>
        </p:spPr>
      </p:pic>
      <p:sp>
        <p:nvSpPr>
          <p:cNvPr id="33" name="Text 24"/>
          <p:cNvSpPr/>
          <p:nvPr/>
        </p:nvSpPr>
        <p:spPr>
          <a:xfrm>
            <a:off x="10168128" y="5897880"/>
            <a:ext cx="1920240" cy="27432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Availability</a:t>
            </a:r>
            <a:endParaRPr lang="en-US" sz="1200" dirty="0"/>
          </a:p>
        </p:txBody>
      </p:sp>
      <p:sp>
        <p:nvSpPr>
          <p:cNvPr id="34" name="Text 25"/>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B6B7A"/>
                </a:solidFill>
                <a:latin typeface="Calibri" pitchFamily="34" charset="0"/>
                <a:ea typeface="Calibri" pitchFamily="34" charset="-122"/>
                <a:cs typeface="Calibri" pitchFamily="34" charset="-120"/>
              </a:rPr>
              <a:t>2</a:t>
            </a:r>
            <a:endParaRPr lang="en-US" sz="1100" dirty="0"/>
          </a:p>
        </p:txBody>
      </p:sp>
      <p:sp>
        <p:nvSpPr>
          <p:cNvPr id="35" name="Text 26"/>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B7C3CC"/>
                </a:solidFill>
                <a:latin typeface="Calibri" pitchFamily="34" charset="0"/>
                <a:ea typeface="Calibri" pitchFamily="34" charset="-122"/>
                <a:cs typeface="Calibri" pitchFamily="34" charset="-120"/>
              </a:rPr>
              <a:t>Modern Operating System Security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Authentication &amp; Access Control</a:t>
            </a:r>
            <a:endParaRPr lang="en-US" sz="2800" dirty="0"/>
          </a:p>
        </p:txBody>
      </p:sp>
      <p:sp>
        <p:nvSpPr>
          <p:cNvPr id="3" name="Text 1"/>
          <p:cNvSpPr/>
          <p:nvPr/>
        </p:nvSpPr>
        <p:spPr>
          <a:xfrm>
            <a:off x="548640" y="1143000"/>
            <a:ext cx="5212080" cy="320040"/>
          </a:xfrm>
          <a:prstGeom prst="rect">
            <a:avLst/>
          </a:prstGeom>
          <a:noFill/>
          <a:ln/>
        </p:spPr>
        <p:txBody>
          <a:bodyPr wrap="square" rtlCol="0" anchor="ctr"/>
          <a:lstStyle/>
          <a:p>
            <a:pPr indent="0" marL="0">
              <a:buNone/>
            </a:pPr>
            <a:r>
              <a:rPr lang="en-US" sz="1400" b="1" spc="150" kern="0" dirty="0">
                <a:solidFill>
                  <a:srgbClr val="3A6EA5"/>
                </a:solidFill>
                <a:latin typeface="Calibri" pitchFamily="34" charset="0"/>
                <a:ea typeface="Calibri" pitchFamily="34" charset="-122"/>
                <a:cs typeface="Calibri" pitchFamily="34" charset="-120"/>
              </a:rPr>
              <a:t>AUTHENTICATION</a:t>
            </a:r>
            <a:endParaRPr lang="en-US" sz="1400" dirty="0"/>
          </a:p>
        </p:txBody>
      </p:sp>
      <p:sp>
        <p:nvSpPr>
          <p:cNvPr id="4" name="Text 2"/>
          <p:cNvSpPr/>
          <p:nvPr/>
        </p:nvSpPr>
        <p:spPr>
          <a:xfrm>
            <a:off x="6035040" y="1143000"/>
            <a:ext cx="5212080" cy="320040"/>
          </a:xfrm>
          <a:prstGeom prst="rect">
            <a:avLst/>
          </a:prstGeom>
          <a:noFill/>
          <a:ln/>
        </p:spPr>
        <p:txBody>
          <a:bodyPr wrap="square" rtlCol="0" anchor="ctr"/>
          <a:lstStyle/>
          <a:p>
            <a:pPr indent="0" marL="0">
              <a:buNone/>
            </a:pPr>
            <a:r>
              <a:rPr lang="en-US" sz="1400" b="1" spc="150" kern="0" dirty="0">
                <a:solidFill>
                  <a:srgbClr val="3A6EA5"/>
                </a:solidFill>
                <a:latin typeface="Calibri" pitchFamily="34" charset="0"/>
                <a:ea typeface="Calibri" pitchFamily="34" charset="-122"/>
                <a:cs typeface="Calibri" pitchFamily="34" charset="-120"/>
              </a:rPr>
              <a:t>ACCESS CONTROL</a:t>
            </a:r>
            <a:endParaRPr lang="en-US" sz="1400" dirty="0"/>
          </a:p>
        </p:txBody>
      </p:sp>
      <p:sp>
        <p:nvSpPr>
          <p:cNvPr id="5" name="Shape 3"/>
          <p:cNvSpPr/>
          <p:nvPr/>
        </p:nvSpPr>
        <p:spPr>
          <a:xfrm>
            <a:off x="548640" y="1600200"/>
            <a:ext cx="420624" cy="420624"/>
          </a:xfrm>
          <a:prstGeom prst="ellipse">
            <a:avLst/>
          </a:prstGeom>
          <a:solidFill>
            <a:srgbClr val="E8F1FB"/>
          </a:solidFill>
          <a:ln/>
        </p:spPr>
      </p:sp>
      <p:pic>
        <p:nvPicPr>
          <p:cNvPr id="6" name="Image 0" descr="/home/claude/osec/icons/key_steel.png">    </p:cNvPr>
          <p:cNvPicPr>
            <a:picLocks noChangeAspect="1"/>
          </p:cNvPicPr>
          <p:nvPr/>
        </p:nvPicPr>
        <p:blipFill>
          <a:blip r:embed="rId1"/>
          <a:stretch>
            <a:fillRect/>
          </a:stretch>
        </p:blipFill>
        <p:spPr>
          <a:xfrm>
            <a:off x="641177" y="1692737"/>
            <a:ext cx="235549" cy="235549"/>
          </a:xfrm>
          <a:prstGeom prst="rect">
            <a:avLst/>
          </a:prstGeom>
        </p:spPr>
      </p:pic>
      <p:sp>
        <p:nvSpPr>
          <p:cNvPr id="7" name="Text 4"/>
          <p:cNvSpPr/>
          <p:nvPr/>
        </p:nvSpPr>
        <p:spPr>
          <a:xfrm>
            <a:off x="1133856" y="1572768"/>
            <a:ext cx="453542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Passwords</a:t>
            </a:r>
            <a:endParaRPr lang="en-US" sz="1450" dirty="0"/>
          </a:p>
        </p:txBody>
      </p:sp>
      <p:sp>
        <p:nvSpPr>
          <p:cNvPr id="8" name="Text 5"/>
          <p:cNvSpPr/>
          <p:nvPr/>
        </p:nvSpPr>
        <p:spPr>
          <a:xfrm>
            <a:off x="1133856" y="1847088"/>
            <a:ext cx="453542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Something the user knows</a:t>
            </a:r>
            <a:endParaRPr lang="en-US" sz="1150" dirty="0"/>
          </a:p>
        </p:txBody>
      </p:sp>
      <p:sp>
        <p:nvSpPr>
          <p:cNvPr id="9" name="Shape 6"/>
          <p:cNvSpPr/>
          <p:nvPr/>
        </p:nvSpPr>
        <p:spPr>
          <a:xfrm>
            <a:off x="548640" y="2496312"/>
            <a:ext cx="420624" cy="420624"/>
          </a:xfrm>
          <a:prstGeom prst="ellipse">
            <a:avLst/>
          </a:prstGeom>
          <a:solidFill>
            <a:srgbClr val="E8F1FB"/>
          </a:solidFill>
          <a:ln/>
        </p:spPr>
      </p:sp>
      <p:pic>
        <p:nvPicPr>
          <p:cNvPr id="10" name="Image 1" descr="/home/claude/osec/icons/mobile_steel.png">    </p:cNvPr>
          <p:cNvPicPr>
            <a:picLocks noChangeAspect="1"/>
          </p:cNvPicPr>
          <p:nvPr/>
        </p:nvPicPr>
        <p:blipFill>
          <a:blip r:embed="rId2"/>
          <a:stretch>
            <a:fillRect/>
          </a:stretch>
        </p:blipFill>
        <p:spPr>
          <a:xfrm>
            <a:off x="641177" y="2588849"/>
            <a:ext cx="235549" cy="235549"/>
          </a:xfrm>
          <a:prstGeom prst="rect">
            <a:avLst/>
          </a:prstGeom>
        </p:spPr>
      </p:pic>
      <p:sp>
        <p:nvSpPr>
          <p:cNvPr id="11" name="Text 7"/>
          <p:cNvSpPr/>
          <p:nvPr/>
        </p:nvSpPr>
        <p:spPr>
          <a:xfrm>
            <a:off x="1133856" y="2468880"/>
            <a:ext cx="453542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Multi-Factor (MFA)</a:t>
            </a:r>
            <a:endParaRPr lang="en-US" sz="1450" dirty="0"/>
          </a:p>
        </p:txBody>
      </p:sp>
      <p:sp>
        <p:nvSpPr>
          <p:cNvPr id="12" name="Text 8"/>
          <p:cNvSpPr/>
          <p:nvPr/>
        </p:nvSpPr>
        <p:spPr>
          <a:xfrm>
            <a:off x="1133856" y="2743200"/>
            <a:ext cx="453542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Two or more proof factors</a:t>
            </a:r>
            <a:endParaRPr lang="en-US" sz="1150" dirty="0"/>
          </a:p>
        </p:txBody>
      </p:sp>
      <p:sp>
        <p:nvSpPr>
          <p:cNvPr id="13" name="Shape 9"/>
          <p:cNvSpPr/>
          <p:nvPr/>
        </p:nvSpPr>
        <p:spPr>
          <a:xfrm>
            <a:off x="548640" y="3392424"/>
            <a:ext cx="420624" cy="420624"/>
          </a:xfrm>
          <a:prstGeom prst="ellipse">
            <a:avLst/>
          </a:prstGeom>
          <a:solidFill>
            <a:srgbClr val="E8F1FB"/>
          </a:solidFill>
          <a:ln/>
        </p:spPr>
      </p:sp>
      <p:pic>
        <p:nvPicPr>
          <p:cNvPr id="14" name="Image 2" descr="/home/claude/osec/icons/fingerprint_steel.png">    </p:cNvPr>
          <p:cNvPicPr>
            <a:picLocks noChangeAspect="1"/>
          </p:cNvPicPr>
          <p:nvPr/>
        </p:nvPicPr>
        <p:blipFill>
          <a:blip r:embed="rId3"/>
          <a:stretch>
            <a:fillRect/>
          </a:stretch>
        </p:blipFill>
        <p:spPr>
          <a:xfrm>
            <a:off x="641177" y="3484961"/>
            <a:ext cx="235549" cy="235549"/>
          </a:xfrm>
          <a:prstGeom prst="rect">
            <a:avLst/>
          </a:prstGeom>
        </p:spPr>
      </p:pic>
      <p:sp>
        <p:nvSpPr>
          <p:cNvPr id="15" name="Text 10"/>
          <p:cNvSpPr/>
          <p:nvPr/>
        </p:nvSpPr>
        <p:spPr>
          <a:xfrm>
            <a:off x="1133856" y="3364992"/>
            <a:ext cx="453542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Biometrics</a:t>
            </a:r>
            <a:endParaRPr lang="en-US" sz="1450" dirty="0"/>
          </a:p>
        </p:txBody>
      </p:sp>
      <p:sp>
        <p:nvSpPr>
          <p:cNvPr id="16" name="Text 11"/>
          <p:cNvSpPr/>
          <p:nvPr/>
        </p:nvSpPr>
        <p:spPr>
          <a:xfrm>
            <a:off x="1133856" y="3639312"/>
            <a:ext cx="453542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Fingerprint, face, iris scan</a:t>
            </a:r>
            <a:endParaRPr lang="en-US" sz="1150" dirty="0"/>
          </a:p>
        </p:txBody>
      </p:sp>
      <p:sp>
        <p:nvSpPr>
          <p:cNvPr id="17" name="Shape 12"/>
          <p:cNvSpPr/>
          <p:nvPr/>
        </p:nvSpPr>
        <p:spPr>
          <a:xfrm>
            <a:off x="548640" y="4288536"/>
            <a:ext cx="420624" cy="420624"/>
          </a:xfrm>
          <a:prstGeom prst="ellipse">
            <a:avLst/>
          </a:prstGeom>
          <a:solidFill>
            <a:srgbClr val="E8F1FB"/>
          </a:solidFill>
          <a:ln/>
        </p:spPr>
      </p:sp>
      <p:pic>
        <p:nvPicPr>
          <p:cNvPr id="18" name="Image 3" descr="/home/claude/osec/icons/sms_steel.png">    </p:cNvPr>
          <p:cNvPicPr>
            <a:picLocks noChangeAspect="1"/>
          </p:cNvPicPr>
          <p:nvPr/>
        </p:nvPicPr>
        <p:blipFill>
          <a:blip r:embed="rId4"/>
          <a:stretch>
            <a:fillRect/>
          </a:stretch>
        </p:blipFill>
        <p:spPr>
          <a:xfrm>
            <a:off x="641177" y="4381073"/>
            <a:ext cx="235549" cy="235549"/>
          </a:xfrm>
          <a:prstGeom prst="rect">
            <a:avLst/>
          </a:prstGeom>
        </p:spPr>
      </p:pic>
      <p:sp>
        <p:nvSpPr>
          <p:cNvPr id="19" name="Text 13"/>
          <p:cNvSpPr/>
          <p:nvPr/>
        </p:nvSpPr>
        <p:spPr>
          <a:xfrm>
            <a:off x="1133856" y="4261104"/>
            <a:ext cx="453542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OTP</a:t>
            </a:r>
            <a:endParaRPr lang="en-US" sz="1450" dirty="0"/>
          </a:p>
        </p:txBody>
      </p:sp>
      <p:sp>
        <p:nvSpPr>
          <p:cNvPr id="20" name="Text 14"/>
          <p:cNvSpPr/>
          <p:nvPr/>
        </p:nvSpPr>
        <p:spPr>
          <a:xfrm>
            <a:off x="1133856" y="4535424"/>
            <a:ext cx="453542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One-time, time-limited code</a:t>
            </a:r>
            <a:endParaRPr lang="en-US" sz="1150" dirty="0"/>
          </a:p>
        </p:txBody>
      </p:sp>
      <p:sp>
        <p:nvSpPr>
          <p:cNvPr id="21" name="Shape 15"/>
          <p:cNvSpPr/>
          <p:nvPr/>
        </p:nvSpPr>
        <p:spPr>
          <a:xfrm>
            <a:off x="6035040" y="1600200"/>
            <a:ext cx="420624" cy="420624"/>
          </a:xfrm>
          <a:prstGeom prst="ellipse">
            <a:avLst/>
          </a:prstGeom>
          <a:solidFill>
            <a:srgbClr val="E8F1FB"/>
          </a:solidFill>
          <a:ln/>
        </p:spPr>
      </p:sp>
      <p:pic>
        <p:nvPicPr>
          <p:cNvPr id="22" name="Image 4" descr="/home/claude/osec/icons/user_steel.png">    </p:cNvPr>
          <p:cNvPicPr>
            <a:picLocks noChangeAspect="1"/>
          </p:cNvPicPr>
          <p:nvPr/>
        </p:nvPicPr>
        <p:blipFill>
          <a:blip r:embed="rId5"/>
          <a:stretch>
            <a:fillRect/>
          </a:stretch>
        </p:blipFill>
        <p:spPr>
          <a:xfrm>
            <a:off x="6127577" y="1692737"/>
            <a:ext cx="235549" cy="235549"/>
          </a:xfrm>
          <a:prstGeom prst="rect">
            <a:avLst/>
          </a:prstGeom>
        </p:spPr>
      </p:pic>
      <p:sp>
        <p:nvSpPr>
          <p:cNvPr id="23" name="Text 16"/>
          <p:cNvSpPr/>
          <p:nvPr/>
        </p:nvSpPr>
        <p:spPr>
          <a:xfrm>
            <a:off x="6620256" y="1572768"/>
            <a:ext cx="480974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User Accounts</a:t>
            </a:r>
            <a:endParaRPr lang="en-US" sz="1450" dirty="0"/>
          </a:p>
        </p:txBody>
      </p:sp>
      <p:sp>
        <p:nvSpPr>
          <p:cNvPr id="24" name="Text 17"/>
          <p:cNvSpPr/>
          <p:nvPr/>
        </p:nvSpPr>
        <p:spPr>
          <a:xfrm>
            <a:off x="6620256" y="1847088"/>
            <a:ext cx="480974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Unique identity per user</a:t>
            </a:r>
            <a:endParaRPr lang="en-US" sz="1150" dirty="0"/>
          </a:p>
        </p:txBody>
      </p:sp>
      <p:sp>
        <p:nvSpPr>
          <p:cNvPr id="25" name="Shape 18"/>
          <p:cNvSpPr/>
          <p:nvPr/>
        </p:nvSpPr>
        <p:spPr>
          <a:xfrm>
            <a:off x="6035040" y="2496312"/>
            <a:ext cx="420624" cy="420624"/>
          </a:xfrm>
          <a:prstGeom prst="ellipse">
            <a:avLst/>
          </a:prstGeom>
          <a:solidFill>
            <a:srgbClr val="E8F1FB"/>
          </a:solidFill>
          <a:ln/>
        </p:spPr>
      </p:sp>
      <p:pic>
        <p:nvPicPr>
          <p:cNvPr id="26" name="Image 5" descr="/home/claude/osec/icons/usersCog_steel.png">    </p:cNvPr>
          <p:cNvPicPr>
            <a:picLocks noChangeAspect="1"/>
          </p:cNvPicPr>
          <p:nvPr/>
        </p:nvPicPr>
        <p:blipFill>
          <a:blip r:embed="rId6"/>
          <a:stretch>
            <a:fillRect/>
          </a:stretch>
        </p:blipFill>
        <p:spPr>
          <a:xfrm>
            <a:off x="6127577" y="2588849"/>
            <a:ext cx="235549" cy="235549"/>
          </a:xfrm>
          <a:prstGeom prst="rect">
            <a:avLst/>
          </a:prstGeom>
        </p:spPr>
      </p:pic>
      <p:sp>
        <p:nvSpPr>
          <p:cNvPr id="27" name="Text 19"/>
          <p:cNvSpPr/>
          <p:nvPr/>
        </p:nvSpPr>
        <p:spPr>
          <a:xfrm>
            <a:off x="6620256" y="2468880"/>
            <a:ext cx="480974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Permissions</a:t>
            </a:r>
            <a:endParaRPr lang="en-US" sz="1450" dirty="0"/>
          </a:p>
        </p:txBody>
      </p:sp>
      <p:sp>
        <p:nvSpPr>
          <p:cNvPr id="28" name="Text 20"/>
          <p:cNvSpPr/>
          <p:nvPr/>
        </p:nvSpPr>
        <p:spPr>
          <a:xfrm>
            <a:off x="6620256" y="2743200"/>
            <a:ext cx="480974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Read / write / execute rights</a:t>
            </a:r>
            <a:endParaRPr lang="en-US" sz="1150" dirty="0"/>
          </a:p>
        </p:txBody>
      </p:sp>
      <p:sp>
        <p:nvSpPr>
          <p:cNvPr id="29" name="Shape 21"/>
          <p:cNvSpPr/>
          <p:nvPr/>
        </p:nvSpPr>
        <p:spPr>
          <a:xfrm>
            <a:off x="6035040" y="3392424"/>
            <a:ext cx="420624" cy="420624"/>
          </a:xfrm>
          <a:prstGeom prst="ellipse">
            <a:avLst/>
          </a:prstGeom>
          <a:solidFill>
            <a:srgbClr val="E8F1FB"/>
          </a:solidFill>
          <a:ln/>
        </p:spPr>
      </p:sp>
      <p:pic>
        <p:nvPicPr>
          <p:cNvPr id="30" name="Image 6" descr="/home/claude/osec/icons/userShield_steel.png">    </p:cNvPr>
          <p:cNvPicPr>
            <a:picLocks noChangeAspect="1"/>
          </p:cNvPicPr>
          <p:nvPr/>
        </p:nvPicPr>
        <p:blipFill>
          <a:blip r:embed="rId7"/>
          <a:stretch>
            <a:fillRect/>
          </a:stretch>
        </p:blipFill>
        <p:spPr>
          <a:xfrm>
            <a:off x="6127577" y="3484961"/>
            <a:ext cx="235549" cy="235549"/>
          </a:xfrm>
          <a:prstGeom prst="rect">
            <a:avLst/>
          </a:prstGeom>
        </p:spPr>
      </p:pic>
      <p:sp>
        <p:nvSpPr>
          <p:cNvPr id="31" name="Text 22"/>
          <p:cNvSpPr/>
          <p:nvPr/>
        </p:nvSpPr>
        <p:spPr>
          <a:xfrm>
            <a:off x="6620256" y="3364992"/>
            <a:ext cx="480974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RBAC</a:t>
            </a:r>
            <a:endParaRPr lang="en-US" sz="1450" dirty="0"/>
          </a:p>
        </p:txBody>
      </p:sp>
      <p:sp>
        <p:nvSpPr>
          <p:cNvPr id="32" name="Text 23"/>
          <p:cNvSpPr/>
          <p:nvPr/>
        </p:nvSpPr>
        <p:spPr>
          <a:xfrm>
            <a:off x="6620256" y="3639312"/>
            <a:ext cx="480974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Access based on assigned role</a:t>
            </a:r>
            <a:endParaRPr lang="en-US" sz="1150" dirty="0"/>
          </a:p>
        </p:txBody>
      </p:sp>
      <p:sp>
        <p:nvSpPr>
          <p:cNvPr id="33" name="Shape 24"/>
          <p:cNvSpPr/>
          <p:nvPr/>
        </p:nvSpPr>
        <p:spPr>
          <a:xfrm>
            <a:off x="6035040" y="4288536"/>
            <a:ext cx="420624" cy="420624"/>
          </a:xfrm>
          <a:prstGeom prst="ellipse">
            <a:avLst/>
          </a:prstGeom>
          <a:solidFill>
            <a:srgbClr val="E8F1FB"/>
          </a:solidFill>
          <a:ln/>
        </p:spPr>
      </p:sp>
      <p:pic>
        <p:nvPicPr>
          <p:cNvPr id="34" name="Image 7" descr="/home/claude/osec/icons/layerGroup_steel.png">    </p:cNvPr>
          <p:cNvPicPr>
            <a:picLocks noChangeAspect="1"/>
          </p:cNvPicPr>
          <p:nvPr/>
        </p:nvPicPr>
        <p:blipFill>
          <a:blip r:embed="rId8"/>
          <a:stretch>
            <a:fillRect/>
          </a:stretch>
        </p:blipFill>
        <p:spPr>
          <a:xfrm>
            <a:off x="6127577" y="4381073"/>
            <a:ext cx="235549" cy="235549"/>
          </a:xfrm>
          <a:prstGeom prst="rect">
            <a:avLst/>
          </a:prstGeom>
        </p:spPr>
      </p:pic>
      <p:sp>
        <p:nvSpPr>
          <p:cNvPr id="35" name="Text 25"/>
          <p:cNvSpPr/>
          <p:nvPr/>
        </p:nvSpPr>
        <p:spPr>
          <a:xfrm>
            <a:off x="6620256" y="4261104"/>
            <a:ext cx="4809744"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Least Privilege</a:t>
            </a:r>
            <a:endParaRPr lang="en-US" sz="1450" dirty="0"/>
          </a:p>
        </p:txBody>
      </p:sp>
      <p:sp>
        <p:nvSpPr>
          <p:cNvPr id="36" name="Text 26"/>
          <p:cNvSpPr/>
          <p:nvPr/>
        </p:nvSpPr>
        <p:spPr>
          <a:xfrm>
            <a:off x="6620256" y="4535424"/>
            <a:ext cx="4809744"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Grant only the minimum access needed</a:t>
            </a:r>
            <a:endParaRPr lang="en-US" sz="1150" dirty="0"/>
          </a:p>
        </p:txBody>
      </p:sp>
      <p:sp>
        <p:nvSpPr>
          <p:cNvPr id="37" name="Shape 27"/>
          <p:cNvSpPr/>
          <p:nvPr/>
        </p:nvSpPr>
        <p:spPr>
          <a:xfrm>
            <a:off x="548640" y="5394960"/>
            <a:ext cx="11064240" cy="914400"/>
          </a:xfrm>
          <a:prstGeom prst="roundRect">
            <a:avLst>
              <a:gd name="adj" fmla="val 12000"/>
            </a:avLst>
          </a:prstGeom>
          <a:solidFill>
            <a:srgbClr val="0B2545"/>
          </a:solidFill>
          <a:ln/>
        </p:spPr>
      </p:sp>
      <p:sp>
        <p:nvSpPr>
          <p:cNvPr id="38" name="Shape 28"/>
          <p:cNvSpPr/>
          <p:nvPr/>
        </p:nvSpPr>
        <p:spPr>
          <a:xfrm>
            <a:off x="777240" y="5605272"/>
            <a:ext cx="502920" cy="502920"/>
          </a:xfrm>
          <a:prstGeom prst="ellipse">
            <a:avLst/>
          </a:prstGeom>
          <a:solidFill>
            <a:srgbClr val="13315C"/>
          </a:solidFill>
          <a:ln/>
        </p:spPr>
      </p:sp>
      <p:pic>
        <p:nvPicPr>
          <p:cNvPr id="39" name="Image 8" descr="/home/claude/osec/icons/user_cyan.png">    </p:cNvPr>
          <p:cNvPicPr>
            <a:picLocks noChangeAspect="1"/>
          </p:cNvPicPr>
          <p:nvPr/>
        </p:nvPicPr>
        <p:blipFill>
          <a:blip r:embed="rId9"/>
          <a:stretch>
            <a:fillRect/>
          </a:stretch>
        </p:blipFill>
        <p:spPr>
          <a:xfrm>
            <a:off x="890397" y="5718429"/>
            <a:ext cx="276606" cy="276606"/>
          </a:xfrm>
          <a:prstGeom prst="rect">
            <a:avLst/>
          </a:prstGeom>
        </p:spPr>
      </p:pic>
      <p:sp>
        <p:nvSpPr>
          <p:cNvPr id="40" name="Text 29"/>
          <p:cNvSpPr/>
          <p:nvPr/>
        </p:nvSpPr>
        <p:spPr>
          <a:xfrm>
            <a:off x="1417320" y="5605272"/>
            <a:ext cx="23774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USER</a:t>
            </a:r>
            <a:endParaRPr lang="en-US" sz="1300" dirty="0"/>
          </a:p>
        </p:txBody>
      </p:sp>
      <p:pic>
        <p:nvPicPr>
          <p:cNvPr id="41" name="Image 9" descr="/home/claude/osec/icons/arrowRight_cyan.png">    </p:cNvPr>
          <p:cNvPicPr>
            <a:picLocks noChangeAspect="1"/>
          </p:cNvPicPr>
          <p:nvPr/>
        </p:nvPicPr>
        <p:blipFill>
          <a:blip r:embed="rId10"/>
          <a:stretch>
            <a:fillRect/>
          </a:stretch>
        </p:blipFill>
        <p:spPr>
          <a:xfrm>
            <a:off x="4000500" y="5742432"/>
            <a:ext cx="274320" cy="274320"/>
          </a:xfrm>
          <a:prstGeom prst="rect">
            <a:avLst/>
          </a:prstGeom>
        </p:spPr>
      </p:pic>
      <p:sp>
        <p:nvSpPr>
          <p:cNvPr id="42" name="Shape 30"/>
          <p:cNvSpPr/>
          <p:nvPr/>
        </p:nvSpPr>
        <p:spPr>
          <a:xfrm>
            <a:off x="4663440" y="5605272"/>
            <a:ext cx="502920" cy="502920"/>
          </a:xfrm>
          <a:prstGeom prst="ellipse">
            <a:avLst/>
          </a:prstGeom>
          <a:solidFill>
            <a:srgbClr val="13315C"/>
          </a:solidFill>
          <a:ln/>
        </p:spPr>
      </p:sp>
      <p:pic>
        <p:nvPicPr>
          <p:cNvPr id="43" name="Image 10" descr="/home/claude/osec/icons/key_cyan.png">    </p:cNvPr>
          <p:cNvPicPr>
            <a:picLocks noChangeAspect="1"/>
          </p:cNvPicPr>
          <p:nvPr/>
        </p:nvPicPr>
        <p:blipFill>
          <a:blip r:embed="rId11"/>
          <a:stretch>
            <a:fillRect/>
          </a:stretch>
        </p:blipFill>
        <p:spPr>
          <a:xfrm>
            <a:off x="4776597" y="5718429"/>
            <a:ext cx="276606" cy="276606"/>
          </a:xfrm>
          <a:prstGeom prst="rect">
            <a:avLst/>
          </a:prstGeom>
        </p:spPr>
      </p:pic>
      <p:sp>
        <p:nvSpPr>
          <p:cNvPr id="44" name="Text 31"/>
          <p:cNvSpPr/>
          <p:nvPr/>
        </p:nvSpPr>
        <p:spPr>
          <a:xfrm>
            <a:off x="5303520" y="5605272"/>
            <a:ext cx="23774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AUTHENTICATION</a:t>
            </a:r>
            <a:endParaRPr lang="en-US" sz="1300" dirty="0"/>
          </a:p>
        </p:txBody>
      </p:sp>
      <p:pic>
        <p:nvPicPr>
          <p:cNvPr id="45" name="Image 11" descr="/home/claude/osec/icons/arrowRight_cyan.png">    </p:cNvPr>
          <p:cNvPicPr>
            <a:picLocks noChangeAspect="1"/>
          </p:cNvPicPr>
          <p:nvPr/>
        </p:nvPicPr>
        <p:blipFill>
          <a:blip r:embed="rId12"/>
          <a:stretch>
            <a:fillRect/>
          </a:stretch>
        </p:blipFill>
        <p:spPr>
          <a:xfrm>
            <a:off x="7886700" y="5742432"/>
            <a:ext cx="274320" cy="274320"/>
          </a:xfrm>
          <a:prstGeom prst="rect">
            <a:avLst/>
          </a:prstGeom>
        </p:spPr>
      </p:pic>
      <p:sp>
        <p:nvSpPr>
          <p:cNvPr id="46" name="Shape 32"/>
          <p:cNvSpPr/>
          <p:nvPr/>
        </p:nvSpPr>
        <p:spPr>
          <a:xfrm>
            <a:off x="8549640" y="5605272"/>
            <a:ext cx="502920" cy="502920"/>
          </a:xfrm>
          <a:prstGeom prst="ellipse">
            <a:avLst/>
          </a:prstGeom>
          <a:solidFill>
            <a:srgbClr val="13315C"/>
          </a:solidFill>
          <a:ln/>
        </p:spPr>
      </p:sp>
      <p:pic>
        <p:nvPicPr>
          <p:cNvPr id="47" name="Image 12" descr="/home/claude/osec/icons/checkCircle_cyan.png">    </p:cNvPr>
          <p:cNvPicPr>
            <a:picLocks noChangeAspect="1"/>
          </p:cNvPicPr>
          <p:nvPr/>
        </p:nvPicPr>
        <p:blipFill>
          <a:blip r:embed="rId13"/>
          <a:stretch>
            <a:fillRect/>
          </a:stretch>
        </p:blipFill>
        <p:spPr>
          <a:xfrm>
            <a:off x="8662797" y="5718429"/>
            <a:ext cx="276606" cy="276606"/>
          </a:xfrm>
          <a:prstGeom prst="rect">
            <a:avLst/>
          </a:prstGeom>
        </p:spPr>
      </p:pic>
      <p:sp>
        <p:nvSpPr>
          <p:cNvPr id="48" name="Text 33"/>
          <p:cNvSpPr/>
          <p:nvPr/>
        </p:nvSpPr>
        <p:spPr>
          <a:xfrm>
            <a:off x="9189720" y="5605272"/>
            <a:ext cx="2377440" cy="5029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ACCESS DECISION</a:t>
            </a:r>
            <a:endParaRPr lang="en-US" sz="1300" dirty="0"/>
          </a:p>
        </p:txBody>
      </p:sp>
      <p:sp>
        <p:nvSpPr>
          <p:cNvPr id="49" name="Text 34"/>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B6B7A"/>
                </a:solidFill>
                <a:latin typeface="Calibri" pitchFamily="34" charset="0"/>
                <a:ea typeface="Calibri" pitchFamily="34" charset="-122"/>
                <a:cs typeface="Calibri" pitchFamily="34" charset="-120"/>
              </a:rPr>
              <a:t>3</a:t>
            </a:r>
            <a:endParaRPr lang="en-US" sz="1100" dirty="0"/>
          </a:p>
        </p:txBody>
      </p:sp>
      <p:sp>
        <p:nvSpPr>
          <p:cNvPr id="50" name="Text 35"/>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B7C3CC"/>
                </a:solidFill>
                <a:latin typeface="Calibri" pitchFamily="34" charset="0"/>
                <a:ea typeface="Calibri" pitchFamily="34" charset="-122"/>
                <a:cs typeface="Calibri" pitchFamily="34" charset="-120"/>
              </a:rPr>
              <a:t>Modern Operating System Security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Encryption</a:t>
            </a:r>
            <a:endParaRPr lang="en-US" sz="3000" dirty="0"/>
          </a:p>
        </p:txBody>
      </p:sp>
      <p:sp>
        <p:nvSpPr>
          <p:cNvPr id="3" name="Text 1"/>
          <p:cNvSpPr/>
          <p:nvPr/>
        </p:nvSpPr>
        <p:spPr>
          <a:xfrm>
            <a:off x="548640" y="914400"/>
            <a:ext cx="6400800" cy="320040"/>
          </a:xfrm>
          <a:prstGeom prst="rect">
            <a:avLst/>
          </a:prstGeom>
          <a:noFill/>
          <a:ln/>
        </p:spPr>
        <p:txBody>
          <a:bodyPr wrap="square" rtlCol="0" anchor="ctr"/>
          <a:lstStyle/>
          <a:p>
            <a:pPr indent="0" marL="0">
              <a:buNone/>
            </a:pPr>
            <a:r>
              <a:rPr lang="en-US" sz="1300" i="1" dirty="0">
                <a:solidFill>
                  <a:srgbClr val="5B6B7A"/>
                </a:solidFill>
                <a:latin typeface="Calibri" pitchFamily="34" charset="0"/>
                <a:ea typeface="Calibri" pitchFamily="34" charset="-122"/>
                <a:cs typeface="Calibri" pitchFamily="34" charset="-120"/>
              </a:rPr>
              <a:t>Turning readable data into unreadable ciphertext</a:t>
            </a:r>
            <a:endParaRPr lang="en-US" sz="1300" dirty="0"/>
          </a:p>
        </p:txBody>
      </p:sp>
      <p:sp>
        <p:nvSpPr>
          <p:cNvPr id="4" name="Shape 2"/>
          <p:cNvSpPr/>
          <p:nvPr/>
        </p:nvSpPr>
        <p:spPr>
          <a:xfrm>
            <a:off x="548640" y="1417320"/>
            <a:ext cx="457200" cy="457200"/>
          </a:xfrm>
          <a:prstGeom prst="ellipse">
            <a:avLst/>
          </a:prstGeom>
          <a:solidFill>
            <a:srgbClr val="E8F1FB"/>
          </a:solidFill>
          <a:ln/>
        </p:spPr>
      </p:sp>
      <p:pic>
        <p:nvPicPr>
          <p:cNvPr id="5" name="Image 0" descr="/home/claude/osec/icons/exchange_steel.png">    </p:cNvPr>
          <p:cNvPicPr>
            <a:picLocks noChangeAspect="1"/>
          </p:cNvPicPr>
          <p:nvPr/>
        </p:nvPicPr>
        <p:blipFill>
          <a:blip r:embed="rId1"/>
          <a:stretch>
            <a:fillRect/>
          </a:stretch>
        </p:blipFill>
        <p:spPr>
          <a:xfrm>
            <a:off x="649224" y="1517904"/>
            <a:ext cx="256032" cy="256032"/>
          </a:xfrm>
          <a:prstGeom prst="rect">
            <a:avLst/>
          </a:prstGeom>
        </p:spPr>
      </p:pic>
      <p:sp>
        <p:nvSpPr>
          <p:cNvPr id="6" name="Text 3"/>
          <p:cNvSpPr/>
          <p:nvPr/>
        </p:nvSpPr>
        <p:spPr>
          <a:xfrm>
            <a:off x="1170432" y="138988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Symmetric Encryption</a:t>
            </a:r>
            <a:endParaRPr lang="en-US" sz="1450" dirty="0"/>
          </a:p>
        </p:txBody>
      </p:sp>
      <p:sp>
        <p:nvSpPr>
          <p:cNvPr id="7" name="Text 4"/>
          <p:cNvSpPr/>
          <p:nvPr/>
        </p:nvSpPr>
        <p:spPr>
          <a:xfrm>
            <a:off x="1170432" y="166420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One shared secret key encrypts and decrypts data.</a:t>
            </a:r>
            <a:endParaRPr lang="en-US" sz="1150" dirty="0"/>
          </a:p>
        </p:txBody>
      </p:sp>
      <p:sp>
        <p:nvSpPr>
          <p:cNvPr id="8" name="Shape 5"/>
          <p:cNvSpPr/>
          <p:nvPr/>
        </p:nvSpPr>
        <p:spPr>
          <a:xfrm>
            <a:off x="548640" y="2331720"/>
            <a:ext cx="457200" cy="457200"/>
          </a:xfrm>
          <a:prstGeom prst="ellipse">
            <a:avLst/>
          </a:prstGeom>
          <a:solidFill>
            <a:srgbClr val="E8F1FB"/>
          </a:solidFill>
          <a:ln/>
        </p:spPr>
      </p:sp>
      <p:pic>
        <p:nvPicPr>
          <p:cNvPr id="9" name="Image 1" descr="/home/claude/osec/icons/key_steel.png">    </p:cNvPr>
          <p:cNvPicPr>
            <a:picLocks noChangeAspect="1"/>
          </p:cNvPicPr>
          <p:nvPr/>
        </p:nvPicPr>
        <p:blipFill>
          <a:blip r:embed="rId2"/>
          <a:stretch>
            <a:fillRect/>
          </a:stretch>
        </p:blipFill>
        <p:spPr>
          <a:xfrm>
            <a:off x="649224" y="2432304"/>
            <a:ext cx="256032" cy="256032"/>
          </a:xfrm>
          <a:prstGeom prst="rect">
            <a:avLst/>
          </a:prstGeom>
        </p:spPr>
      </p:pic>
      <p:sp>
        <p:nvSpPr>
          <p:cNvPr id="10" name="Text 6"/>
          <p:cNvSpPr/>
          <p:nvPr/>
        </p:nvSpPr>
        <p:spPr>
          <a:xfrm>
            <a:off x="1170432" y="230428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Asymmetric Encryption</a:t>
            </a:r>
            <a:endParaRPr lang="en-US" sz="1450" dirty="0"/>
          </a:p>
        </p:txBody>
      </p:sp>
      <p:sp>
        <p:nvSpPr>
          <p:cNvPr id="11" name="Text 7"/>
          <p:cNvSpPr/>
          <p:nvPr/>
        </p:nvSpPr>
        <p:spPr>
          <a:xfrm>
            <a:off x="1170432" y="257860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A public key encrypts; a private key decrypts.</a:t>
            </a:r>
            <a:endParaRPr lang="en-US" sz="1150" dirty="0"/>
          </a:p>
        </p:txBody>
      </p:sp>
      <p:sp>
        <p:nvSpPr>
          <p:cNvPr id="12" name="Shape 8"/>
          <p:cNvSpPr/>
          <p:nvPr/>
        </p:nvSpPr>
        <p:spPr>
          <a:xfrm>
            <a:off x="548640" y="3246120"/>
            <a:ext cx="457200" cy="457200"/>
          </a:xfrm>
          <a:prstGeom prst="ellipse">
            <a:avLst/>
          </a:prstGeom>
          <a:solidFill>
            <a:srgbClr val="E8F1FB"/>
          </a:solidFill>
          <a:ln/>
        </p:spPr>
      </p:sp>
      <p:pic>
        <p:nvPicPr>
          <p:cNvPr id="13" name="Image 2" descr="/home/claude/osec/icons/hdd_steel.png">    </p:cNvPr>
          <p:cNvPicPr>
            <a:picLocks noChangeAspect="1"/>
          </p:cNvPicPr>
          <p:nvPr/>
        </p:nvPicPr>
        <p:blipFill>
          <a:blip r:embed="rId3"/>
          <a:stretch>
            <a:fillRect/>
          </a:stretch>
        </p:blipFill>
        <p:spPr>
          <a:xfrm>
            <a:off x="649224" y="3346704"/>
            <a:ext cx="256032" cy="256032"/>
          </a:xfrm>
          <a:prstGeom prst="rect">
            <a:avLst/>
          </a:prstGeom>
        </p:spPr>
      </p:pic>
      <p:sp>
        <p:nvSpPr>
          <p:cNvPr id="14" name="Text 9"/>
          <p:cNvSpPr/>
          <p:nvPr/>
        </p:nvSpPr>
        <p:spPr>
          <a:xfrm>
            <a:off x="1170432" y="321868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Disk Encryption</a:t>
            </a:r>
            <a:endParaRPr lang="en-US" sz="1450" dirty="0"/>
          </a:p>
        </p:txBody>
      </p:sp>
      <p:sp>
        <p:nvSpPr>
          <p:cNvPr id="15" name="Text 10"/>
          <p:cNvSpPr/>
          <p:nvPr/>
        </p:nvSpPr>
        <p:spPr>
          <a:xfrm>
            <a:off x="1170432" y="349300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Protects entire storage drives at rest.</a:t>
            </a:r>
            <a:endParaRPr lang="en-US" sz="1150" dirty="0"/>
          </a:p>
        </p:txBody>
      </p:sp>
      <p:sp>
        <p:nvSpPr>
          <p:cNvPr id="16" name="Shape 11"/>
          <p:cNvSpPr/>
          <p:nvPr/>
        </p:nvSpPr>
        <p:spPr>
          <a:xfrm>
            <a:off x="548640" y="4160520"/>
            <a:ext cx="457200" cy="457200"/>
          </a:xfrm>
          <a:prstGeom prst="ellipse">
            <a:avLst/>
          </a:prstGeom>
          <a:solidFill>
            <a:srgbClr val="E8F1FB"/>
          </a:solidFill>
          <a:ln/>
        </p:spPr>
      </p:sp>
      <p:pic>
        <p:nvPicPr>
          <p:cNvPr id="17" name="Image 3" descr="/home/claude/osec/icons/fileAlt_steel.png">    </p:cNvPr>
          <p:cNvPicPr>
            <a:picLocks noChangeAspect="1"/>
          </p:cNvPicPr>
          <p:nvPr/>
        </p:nvPicPr>
        <p:blipFill>
          <a:blip r:embed="rId4"/>
          <a:stretch>
            <a:fillRect/>
          </a:stretch>
        </p:blipFill>
        <p:spPr>
          <a:xfrm>
            <a:off x="649224" y="4261104"/>
            <a:ext cx="256032" cy="256032"/>
          </a:xfrm>
          <a:prstGeom prst="rect">
            <a:avLst/>
          </a:prstGeom>
        </p:spPr>
      </p:pic>
      <p:sp>
        <p:nvSpPr>
          <p:cNvPr id="18" name="Text 12"/>
          <p:cNvSpPr/>
          <p:nvPr/>
        </p:nvSpPr>
        <p:spPr>
          <a:xfrm>
            <a:off x="1170432" y="4133088"/>
            <a:ext cx="59618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File Encryption</a:t>
            </a:r>
            <a:endParaRPr lang="en-US" sz="1450" dirty="0"/>
          </a:p>
        </p:txBody>
      </p:sp>
      <p:sp>
        <p:nvSpPr>
          <p:cNvPr id="19" name="Text 13"/>
          <p:cNvSpPr/>
          <p:nvPr/>
        </p:nvSpPr>
        <p:spPr>
          <a:xfrm>
            <a:off x="1170432" y="4407408"/>
            <a:ext cx="59618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Secures individual files and documents.</a:t>
            </a:r>
            <a:endParaRPr lang="en-US" sz="1150" dirty="0"/>
          </a:p>
        </p:txBody>
      </p:sp>
      <p:sp>
        <p:nvSpPr>
          <p:cNvPr id="20" name="Text 14"/>
          <p:cNvSpPr/>
          <p:nvPr/>
        </p:nvSpPr>
        <p:spPr>
          <a:xfrm>
            <a:off x="548640" y="5166360"/>
            <a:ext cx="3657600" cy="274320"/>
          </a:xfrm>
          <a:prstGeom prst="rect">
            <a:avLst/>
          </a:prstGeom>
          <a:noFill/>
          <a:ln/>
        </p:spPr>
        <p:txBody>
          <a:bodyPr wrap="square" rtlCol="0" anchor="ctr"/>
          <a:lstStyle/>
          <a:p>
            <a:pPr indent="0" marL="0">
              <a:buNone/>
            </a:pPr>
            <a:r>
              <a:rPr lang="en-US" sz="1300" b="1" dirty="0">
                <a:solidFill>
                  <a:srgbClr val="3A6EA5"/>
                </a:solidFill>
                <a:latin typeface="Calibri" pitchFamily="34" charset="0"/>
                <a:ea typeface="Calibri" pitchFamily="34" charset="-122"/>
                <a:cs typeface="Calibri" pitchFamily="34" charset="-120"/>
              </a:rPr>
              <a:t>Real-World Examples</a:t>
            </a:r>
            <a:endParaRPr lang="en-US" sz="1300" dirty="0"/>
          </a:p>
        </p:txBody>
      </p:sp>
      <p:sp>
        <p:nvSpPr>
          <p:cNvPr id="21" name="Shape 15"/>
          <p:cNvSpPr/>
          <p:nvPr/>
        </p:nvSpPr>
        <p:spPr>
          <a:xfrm>
            <a:off x="548640" y="5486400"/>
            <a:ext cx="2103120" cy="502920"/>
          </a:xfrm>
          <a:prstGeom prst="roundRect">
            <a:avLst>
              <a:gd name="adj" fmla="val 14545"/>
            </a:avLst>
          </a:prstGeom>
          <a:solidFill>
            <a:srgbClr val="13315C"/>
          </a:solidFill>
          <a:ln/>
        </p:spPr>
      </p:sp>
      <p:sp>
        <p:nvSpPr>
          <p:cNvPr id="22" name="Text 16"/>
          <p:cNvSpPr/>
          <p:nvPr/>
        </p:nvSpPr>
        <p:spPr>
          <a:xfrm>
            <a:off x="548640" y="5486400"/>
            <a:ext cx="2103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BitLocker (Windows)</a:t>
            </a:r>
            <a:endParaRPr lang="en-US" sz="1100" dirty="0"/>
          </a:p>
        </p:txBody>
      </p:sp>
      <p:sp>
        <p:nvSpPr>
          <p:cNvPr id="23" name="Shape 17"/>
          <p:cNvSpPr/>
          <p:nvPr/>
        </p:nvSpPr>
        <p:spPr>
          <a:xfrm>
            <a:off x="2834640" y="5486400"/>
            <a:ext cx="2103120" cy="502920"/>
          </a:xfrm>
          <a:prstGeom prst="roundRect">
            <a:avLst>
              <a:gd name="adj" fmla="val 14545"/>
            </a:avLst>
          </a:prstGeom>
          <a:solidFill>
            <a:srgbClr val="13315C"/>
          </a:solidFill>
          <a:ln/>
        </p:spPr>
      </p:sp>
      <p:sp>
        <p:nvSpPr>
          <p:cNvPr id="24" name="Text 18"/>
          <p:cNvSpPr/>
          <p:nvPr/>
        </p:nvSpPr>
        <p:spPr>
          <a:xfrm>
            <a:off x="2834640" y="5486400"/>
            <a:ext cx="2103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FileVault (macOS)</a:t>
            </a:r>
            <a:endParaRPr lang="en-US" sz="1100" dirty="0"/>
          </a:p>
        </p:txBody>
      </p:sp>
      <p:sp>
        <p:nvSpPr>
          <p:cNvPr id="25" name="Shape 19"/>
          <p:cNvSpPr/>
          <p:nvPr/>
        </p:nvSpPr>
        <p:spPr>
          <a:xfrm>
            <a:off x="5120640" y="5486400"/>
            <a:ext cx="2103120" cy="502920"/>
          </a:xfrm>
          <a:prstGeom prst="roundRect">
            <a:avLst>
              <a:gd name="adj" fmla="val 14545"/>
            </a:avLst>
          </a:prstGeom>
          <a:solidFill>
            <a:srgbClr val="13315C"/>
          </a:solidFill>
          <a:ln/>
        </p:spPr>
      </p:sp>
      <p:sp>
        <p:nvSpPr>
          <p:cNvPr id="26" name="Text 20"/>
          <p:cNvSpPr/>
          <p:nvPr/>
        </p:nvSpPr>
        <p:spPr>
          <a:xfrm>
            <a:off x="5120640" y="5486400"/>
            <a:ext cx="21031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LUKS (Linux)</a:t>
            </a:r>
            <a:endParaRPr lang="en-US" sz="1100" dirty="0"/>
          </a:p>
        </p:txBody>
      </p:sp>
      <p:sp>
        <p:nvSpPr>
          <p:cNvPr id="27" name="Shape 21"/>
          <p:cNvSpPr/>
          <p:nvPr/>
        </p:nvSpPr>
        <p:spPr>
          <a:xfrm>
            <a:off x="7452360" y="1371600"/>
            <a:ext cx="4160520" cy="3977640"/>
          </a:xfrm>
          <a:prstGeom prst="roundRect">
            <a:avLst>
              <a:gd name="adj" fmla="val 3218"/>
            </a:avLst>
          </a:prstGeom>
          <a:solidFill>
            <a:srgbClr val="E8F1FB"/>
          </a:solidFill>
          <a:ln/>
        </p:spPr>
      </p:sp>
      <p:sp>
        <p:nvSpPr>
          <p:cNvPr id="28" name="Text 22"/>
          <p:cNvSpPr/>
          <p:nvPr/>
        </p:nvSpPr>
        <p:spPr>
          <a:xfrm>
            <a:off x="7452360" y="1554480"/>
            <a:ext cx="4160520" cy="320040"/>
          </a:xfrm>
          <a:prstGeom prst="rect">
            <a:avLst/>
          </a:prstGeom>
          <a:noFill/>
          <a:ln/>
        </p:spPr>
        <p:txBody>
          <a:bodyPr wrap="square" rtlCol="0" anchor="ctr"/>
          <a:lstStyle/>
          <a:p>
            <a:pPr algn="ctr" indent="0" marL="0">
              <a:buNone/>
            </a:pPr>
            <a:r>
              <a:rPr lang="en-US" sz="1200" b="1" spc="100" kern="0" dirty="0">
                <a:solidFill>
                  <a:srgbClr val="0B2545"/>
                </a:solidFill>
                <a:latin typeface="Calibri" pitchFamily="34" charset="0"/>
                <a:ea typeface="Calibri" pitchFamily="34" charset="-122"/>
                <a:cs typeface="Calibri" pitchFamily="34" charset="-120"/>
              </a:rPr>
              <a:t>PLAINTEXT  →  CIPHERTEXT</a:t>
            </a:r>
            <a:endParaRPr lang="en-US" sz="1200" dirty="0"/>
          </a:p>
        </p:txBody>
      </p:sp>
      <p:sp>
        <p:nvSpPr>
          <p:cNvPr id="29" name="Shape 23"/>
          <p:cNvSpPr/>
          <p:nvPr/>
        </p:nvSpPr>
        <p:spPr>
          <a:xfrm>
            <a:off x="7818120" y="2057400"/>
            <a:ext cx="1371600" cy="914400"/>
          </a:xfrm>
          <a:prstGeom prst="roundRect">
            <a:avLst>
              <a:gd name="adj" fmla="val 8000"/>
            </a:avLst>
          </a:prstGeom>
          <a:solidFill>
            <a:srgbClr val="FFFFFF"/>
          </a:solidFill>
          <a:ln w="12700">
            <a:solidFill>
              <a:srgbClr val="3A6EA5"/>
            </a:solidFill>
            <a:prstDash val="solid"/>
          </a:ln>
        </p:spPr>
      </p:sp>
      <p:sp>
        <p:nvSpPr>
          <p:cNvPr id="30" name="Text 24"/>
          <p:cNvSpPr/>
          <p:nvPr/>
        </p:nvSpPr>
        <p:spPr>
          <a:xfrm>
            <a:off x="7818120" y="2057400"/>
            <a:ext cx="1371600" cy="914400"/>
          </a:xfrm>
          <a:prstGeom prst="rect">
            <a:avLst/>
          </a:prstGeom>
          <a:noFill/>
          <a:ln/>
        </p:spPr>
        <p:txBody>
          <a:bodyPr wrap="square"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DATA</a:t>
            </a:r>
            <a:endParaRPr lang="en-US" sz="1200" dirty="0"/>
          </a:p>
        </p:txBody>
      </p:sp>
      <p:sp>
        <p:nvSpPr>
          <p:cNvPr id="31" name="Shape 25"/>
          <p:cNvSpPr/>
          <p:nvPr/>
        </p:nvSpPr>
        <p:spPr>
          <a:xfrm>
            <a:off x="9464040" y="2148840"/>
            <a:ext cx="731520" cy="731520"/>
          </a:xfrm>
          <a:prstGeom prst="ellipse">
            <a:avLst/>
          </a:prstGeom>
          <a:solidFill>
            <a:srgbClr val="0B2545"/>
          </a:solidFill>
          <a:ln/>
        </p:spPr>
      </p:sp>
      <p:pic>
        <p:nvPicPr>
          <p:cNvPr id="32" name="Image 4" descr="/home/claude/osec/icons/key_cyan.png">    </p:cNvPr>
          <p:cNvPicPr>
            <a:picLocks noChangeAspect="1"/>
          </p:cNvPicPr>
          <p:nvPr/>
        </p:nvPicPr>
        <p:blipFill>
          <a:blip r:embed="rId5"/>
          <a:stretch>
            <a:fillRect/>
          </a:stretch>
        </p:blipFill>
        <p:spPr>
          <a:xfrm>
            <a:off x="9628632" y="2313432"/>
            <a:ext cx="402336" cy="402336"/>
          </a:xfrm>
          <a:prstGeom prst="rect">
            <a:avLst/>
          </a:prstGeom>
        </p:spPr>
      </p:pic>
      <p:pic>
        <p:nvPicPr>
          <p:cNvPr id="33" name="Image 5" descr="/home/claude/osec/icons/arrowRight_steel.png">    </p:cNvPr>
          <p:cNvPicPr>
            <a:picLocks noChangeAspect="1"/>
          </p:cNvPicPr>
          <p:nvPr/>
        </p:nvPicPr>
        <p:blipFill>
          <a:blip r:embed="rId6"/>
          <a:stretch>
            <a:fillRect/>
          </a:stretch>
        </p:blipFill>
        <p:spPr>
          <a:xfrm>
            <a:off x="9189720" y="2423160"/>
            <a:ext cx="274320" cy="274320"/>
          </a:xfrm>
          <a:prstGeom prst="rect">
            <a:avLst/>
          </a:prstGeom>
        </p:spPr>
      </p:pic>
      <p:sp>
        <p:nvSpPr>
          <p:cNvPr id="34" name="Shape 26"/>
          <p:cNvSpPr/>
          <p:nvPr/>
        </p:nvSpPr>
        <p:spPr>
          <a:xfrm>
            <a:off x="10287000" y="2057400"/>
            <a:ext cx="1051560" cy="914400"/>
          </a:xfrm>
          <a:prstGeom prst="roundRect">
            <a:avLst>
              <a:gd name="adj" fmla="val 8000"/>
            </a:avLst>
          </a:prstGeom>
          <a:solidFill>
            <a:srgbClr val="0B2545"/>
          </a:solidFill>
          <a:ln/>
        </p:spPr>
      </p:sp>
      <p:pic>
        <p:nvPicPr>
          <p:cNvPr id="35" name="Image 6" descr="/home/claude/osec/icons/lock_cyan.png">    </p:cNvPr>
          <p:cNvPicPr>
            <a:picLocks noChangeAspect="1"/>
          </p:cNvPicPr>
          <p:nvPr/>
        </p:nvPicPr>
        <p:blipFill>
          <a:blip r:embed="rId7"/>
          <a:stretch>
            <a:fillRect/>
          </a:stretch>
        </p:blipFill>
        <p:spPr>
          <a:xfrm>
            <a:off x="10561320" y="2240280"/>
            <a:ext cx="502920" cy="502920"/>
          </a:xfrm>
          <a:prstGeom prst="rect">
            <a:avLst/>
          </a:prstGeom>
        </p:spPr>
      </p:pic>
      <p:sp>
        <p:nvSpPr>
          <p:cNvPr id="36" name="Text 27"/>
          <p:cNvSpPr/>
          <p:nvPr/>
        </p:nvSpPr>
        <p:spPr>
          <a:xfrm>
            <a:off x="7818120" y="3108960"/>
            <a:ext cx="3520440" cy="320040"/>
          </a:xfrm>
          <a:prstGeom prst="rect">
            <a:avLst/>
          </a:prstGeom>
          <a:noFill/>
          <a:ln/>
        </p:spPr>
        <p:txBody>
          <a:bodyPr wrap="square" rtlCol="0" anchor="ctr"/>
          <a:lstStyle/>
          <a:p>
            <a:pPr algn="ctr" indent="0" marL="0">
              <a:buNone/>
            </a:pPr>
            <a:r>
              <a:rPr lang="en-US" sz="1200" dirty="0">
                <a:solidFill>
                  <a:srgbClr val="3A6EA5"/>
                </a:solidFill>
                <a:latin typeface="Courier New" pitchFamily="34" charset="0"/>
                <a:ea typeface="Courier New" pitchFamily="34" charset="-122"/>
                <a:cs typeface="Courier New" pitchFamily="34" charset="-120"/>
              </a:rPr>
              <a:t>%$#@!&amp;*  ← encrypted</a:t>
            </a:r>
            <a:endParaRPr lang="en-US" sz="1200" dirty="0"/>
          </a:p>
        </p:txBody>
      </p:sp>
      <p:sp>
        <p:nvSpPr>
          <p:cNvPr id="37" name="Text 28"/>
          <p:cNvSpPr/>
          <p:nvPr/>
        </p:nvSpPr>
        <p:spPr>
          <a:xfrm>
            <a:off x="7680960" y="3749040"/>
            <a:ext cx="3749040" cy="1463040"/>
          </a:xfrm>
          <a:prstGeom prst="rect">
            <a:avLst/>
          </a:prstGeom>
          <a:noFill/>
          <a:ln/>
        </p:spPr>
        <p:txBody>
          <a:bodyPr wrap="square" lIns="0" tIns="0" rIns="0" bIns="0" rtlCol="0" anchor="ctr"/>
          <a:lstStyle/>
          <a:p>
            <a:pPr indent="0" marL="0">
              <a:lnSpc>
                <a:spcPct val="120000"/>
              </a:lnSpc>
              <a:buNone/>
            </a:pPr>
            <a:r>
              <a:rPr lang="en-US" sz="1150" b="1" dirty="0">
                <a:solidFill>
                  <a:srgbClr val="0B2545"/>
                </a:solidFill>
                <a:latin typeface="Calibri" pitchFamily="34" charset="0"/>
                <a:ea typeface="Calibri" pitchFamily="34" charset="-122"/>
                <a:cs typeface="Calibri" pitchFamily="34" charset="-120"/>
              </a:rPr>
              <a:t>Benefits: </a:t>
            </a:r>
            <a:pPr indent="0" marL="0">
              <a:lnSpc>
                <a:spcPct val="120000"/>
              </a:lnSpc>
              <a:buNone/>
            </a:pPr>
            <a:r>
              <a:rPr lang="en-US" sz="1150" dirty="0">
                <a:solidFill>
                  <a:srgbClr val="36454F"/>
                </a:solidFill>
                <a:latin typeface="Calibri" pitchFamily="34" charset="0"/>
                <a:ea typeface="Calibri" pitchFamily="34" charset="-122"/>
                <a:cs typeface="Calibri" pitchFamily="34" charset="-120"/>
              </a:rPr>
              <a:t>confidentiality, data integrity, regulatory compliance, and protection even if a device is lost or stolen.</a:t>
            </a:r>
            <a:endParaRPr lang="en-US" sz="1150" dirty="0"/>
          </a:p>
        </p:txBody>
      </p:sp>
      <p:sp>
        <p:nvSpPr>
          <p:cNvPr id="38" name="Text 29"/>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B6B7A"/>
                </a:solidFill>
                <a:latin typeface="Calibri" pitchFamily="34" charset="0"/>
                <a:ea typeface="Calibri" pitchFamily="34" charset="-122"/>
                <a:cs typeface="Calibri" pitchFamily="34" charset="-120"/>
              </a:rPr>
              <a:t>4</a:t>
            </a:r>
            <a:endParaRPr lang="en-US" sz="1100" dirty="0"/>
          </a:p>
        </p:txBody>
      </p:sp>
      <p:sp>
        <p:nvSpPr>
          <p:cNvPr id="39" name="Text 30"/>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B7C3CC"/>
                </a:solidFill>
                <a:latin typeface="Calibri" pitchFamily="34" charset="0"/>
                <a:ea typeface="Calibri" pitchFamily="34" charset="-122"/>
                <a:cs typeface="Calibri" pitchFamily="34" charset="-120"/>
              </a:rPr>
              <a:t>Modern Operating System Security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Malware Protection</a:t>
            </a:r>
            <a:endParaRPr lang="en-US" sz="3000" dirty="0"/>
          </a:p>
        </p:txBody>
      </p:sp>
      <p:sp>
        <p:nvSpPr>
          <p:cNvPr id="3" name="Text 1"/>
          <p:cNvSpPr/>
          <p:nvPr/>
        </p:nvSpPr>
        <p:spPr>
          <a:xfrm>
            <a:off x="548640" y="914400"/>
            <a:ext cx="6400800" cy="320040"/>
          </a:xfrm>
          <a:prstGeom prst="rect">
            <a:avLst/>
          </a:prstGeom>
          <a:noFill/>
          <a:ln/>
        </p:spPr>
        <p:txBody>
          <a:bodyPr wrap="square" rtlCol="0" anchor="ctr"/>
          <a:lstStyle/>
          <a:p>
            <a:pPr indent="0" marL="0">
              <a:buNone/>
            </a:pPr>
            <a:r>
              <a:rPr lang="en-US" sz="1300" i="1" dirty="0">
                <a:solidFill>
                  <a:srgbClr val="9FBBDA"/>
                </a:solidFill>
                <a:latin typeface="Calibri" pitchFamily="34" charset="0"/>
                <a:ea typeface="Calibri" pitchFamily="34" charset="-122"/>
                <a:cs typeface="Calibri" pitchFamily="34" charset="-120"/>
              </a:rPr>
              <a:t>Know the threat, then defend against it</a:t>
            </a:r>
            <a:endParaRPr lang="en-US" sz="1300" dirty="0"/>
          </a:p>
        </p:txBody>
      </p:sp>
      <p:sp>
        <p:nvSpPr>
          <p:cNvPr id="4" name="Text 2"/>
          <p:cNvSpPr/>
          <p:nvPr/>
        </p:nvSpPr>
        <p:spPr>
          <a:xfrm>
            <a:off x="548640" y="1371600"/>
            <a:ext cx="5486400" cy="292608"/>
          </a:xfrm>
          <a:prstGeom prst="rect">
            <a:avLst/>
          </a:prstGeom>
          <a:noFill/>
          <a:ln/>
        </p:spPr>
        <p:txBody>
          <a:bodyPr wrap="square" rtlCol="0" anchor="ctr"/>
          <a:lstStyle/>
          <a:p>
            <a:pPr indent="0" marL="0">
              <a:buNone/>
            </a:pPr>
            <a:r>
              <a:rPr lang="en-US" sz="1300" b="1" spc="150" kern="0" dirty="0">
                <a:solidFill>
                  <a:srgbClr val="00B4D8"/>
                </a:solidFill>
                <a:latin typeface="Calibri" pitchFamily="34" charset="0"/>
                <a:ea typeface="Calibri" pitchFamily="34" charset="-122"/>
                <a:cs typeface="Calibri" pitchFamily="34" charset="-120"/>
              </a:rPr>
              <a:t>COMMON MALWARE TYPES</a:t>
            </a:r>
            <a:endParaRPr lang="en-US" sz="1300" dirty="0"/>
          </a:p>
        </p:txBody>
      </p:sp>
      <p:sp>
        <p:nvSpPr>
          <p:cNvPr id="5" name="Shape 3"/>
          <p:cNvSpPr/>
          <p:nvPr/>
        </p:nvSpPr>
        <p:spPr>
          <a:xfrm>
            <a:off x="548640" y="1783080"/>
            <a:ext cx="2103120" cy="1417320"/>
          </a:xfrm>
          <a:prstGeom prst="roundRect">
            <a:avLst>
              <a:gd name="adj" fmla="val 6452"/>
            </a:avLst>
          </a:prstGeom>
          <a:solidFill>
            <a:srgbClr val="13315C"/>
          </a:solidFill>
          <a:ln/>
        </p:spPr>
      </p:sp>
      <p:sp>
        <p:nvSpPr>
          <p:cNvPr id="6" name="Shape 4"/>
          <p:cNvSpPr/>
          <p:nvPr/>
        </p:nvSpPr>
        <p:spPr>
          <a:xfrm>
            <a:off x="1234440" y="1965960"/>
            <a:ext cx="731520" cy="731520"/>
          </a:xfrm>
          <a:prstGeom prst="ellipse">
            <a:avLst/>
          </a:prstGeom>
          <a:solidFill>
            <a:srgbClr val="0F335A"/>
          </a:solidFill>
          <a:ln/>
        </p:spPr>
      </p:sp>
      <p:pic>
        <p:nvPicPr>
          <p:cNvPr id="7" name="Image 0" descr="/home/claude/osec/icons/virus_cyan.png">    </p:cNvPr>
          <p:cNvPicPr>
            <a:picLocks noChangeAspect="1"/>
          </p:cNvPicPr>
          <p:nvPr/>
        </p:nvPicPr>
        <p:blipFill>
          <a:blip r:embed="rId1"/>
          <a:stretch>
            <a:fillRect/>
          </a:stretch>
        </p:blipFill>
        <p:spPr>
          <a:xfrm>
            <a:off x="1399032" y="2130552"/>
            <a:ext cx="402336" cy="402336"/>
          </a:xfrm>
          <a:prstGeom prst="rect">
            <a:avLst/>
          </a:prstGeom>
        </p:spPr>
      </p:pic>
      <p:sp>
        <p:nvSpPr>
          <p:cNvPr id="8" name="Text 5"/>
          <p:cNvSpPr/>
          <p:nvPr/>
        </p:nvSpPr>
        <p:spPr>
          <a:xfrm>
            <a:off x="548640" y="2788920"/>
            <a:ext cx="210312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Viruses</a:t>
            </a:r>
            <a:endParaRPr lang="en-US" sz="1200" dirty="0"/>
          </a:p>
        </p:txBody>
      </p:sp>
      <p:sp>
        <p:nvSpPr>
          <p:cNvPr id="9" name="Shape 6"/>
          <p:cNvSpPr/>
          <p:nvPr/>
        </p:nvSpPr>
        <p:spPr>
          <a:xfrm>
            <a:off x="2770632" y="1783080"/>
            <a:ext cx="2103120" cy="1417320"/>
          </a:xfrm>
          <a:prstGeom prst="roundRect">
            <a:avLst>
              <a:gd name="adj" fmla="val 6452"/>
            </a:avLst>
          </a:prstGeom>
          <a:solidFill>
            <a:srgbClr val="13315C"/>
          </a:solidFill>
          <a:ln/>
        </p:spPr>
      </p:sp>
      <p:sp>
        <p:nvSpPr>
          <p:cNvPr id="10" name="Shape 7"/>
          <p:cNvSpPr/>
          <p:nvPr/>
        </p:nvSpPr>
        <p:spPr>
          <a:xfrm>
            <a:off x="3456432" y="1965960"/>
            <a:ext cx="731520" cy="731520"/>
          </a:xfrm>
          <a:prstGeom prst="ellipse">
            <a:avLst/>
          </a:prstGeom>
          <a:solidFill>
            <a:srgbClr val="0F335A"/>
          </a:solidFill>
          <a:ln/>
        </p:spPr>
      </p:sp>
      <p:pic>
        <p:nvPicPr>
          <p:cNvPr id="11" name="Image 1" descr="/home/claude/osec/icons/spider_cyan.png">    </p:cNvPr>
          <p:cNvPicPr>
            <a:picLocks noChangeAspect="1"/>
          </p:cNvPicPr>
          <p:nvPr/>
        </p:nvPicPr>
        <p:blipFill>
          <a:blip r:embed="rId2"/>
          <a:stretch>
            <a:fillRect/>
          </a:stretch>
        </p:blipFill>
        <p:spPr>
          <a:xfrm>
            <a:off x="3621024" y="2130552"/>
            <a:ext cx="402336" cy="402336"/>
          </a:xfrm>
          <a:prstGeom prst="rect">
            <a:avLst/>
          </a:prstGeom>
        </p:spPr>
      </p:pic>
      <p:sp>
        <p:nvSpPr>
          <p:cNvPr id="12" name="Text 8"/>
          <p:cNvSpPr/>
          <p:nvPr/>
        </p:nvSpPr>
        <p:spPr>
          <a:xfrm>
            <a:off x="2770632" y="2788920"/>
            <a:ext cx="210312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Worms</a:t>
            </a:r>
            <a:endParaRPr lang="en-US" sz="1200" dirty="0"/>
          </a:p>
        </p:txBody>
      </p:sp>
      <p:sp>
        <p:nvSpPr>
          <p:cNvPr id="13" name="Shape 9"/>
          <p:cNvSpPr/>
          <p:nvPr/>
        </p:nvSpPr>
        <p:spPr>
          <a:xfrm>
            <a:off x="4992624" y="1783080"/>
            <a:ext cx="2103120" cy="1417320"/>
          </a:xfrm>
          <a:prstGeom prst="roundRect">
            <a:avLst>
              <a:gd name="adj" fmla="val 6452"/>
            </a:avLst>
          </a:prstGeom>
          <a:solidFill>
            <a:srgbClr val="13315C"/>
          </a:solidFill>
          <a:ln/>
        </p:spPr>
      </p:sp>
      <p:sp>
        <p:nvSpPr>
          <p:cNvPr id="14" name="Shape 10"/>
          <p:cNvSpPr/>
          <p:nvPr/>
        </p:nvSpPr>
        <p:spPr>
          <a:xfrm>
            <a:off x="5678424" y="1965960"/>
            <a:ext cx="731520" cy="731520"/>
          </a:xfrm>
          <a:prstGeom prst="ellipse">
            <a:avLst/>
          </a:prstGeom>
          <a:solidFill>
            <a:srgbClr val="0F335A"/>
          </a:solidFill>
          <a:ln/>
        </p:spPr>
      </p:sp>
      <p:pic>
        <p:nvPicPr>
          <p:cNvPr id="15" name="Image 2" descr="/home/claude/osec/icons/horseHead_cyan.png">    </p:cNvPr>
          <p:cNvPicPr>
            <a:picLocks noChangeAspect="1"/>
          </p:cNvPicPr>
          <p:nvPr/>
        </p:nvPicPr>
        <p:blipFill>
          <a:blip r:embed="rId3"/>
          <a:stretch>
            <a:fillRect/>
          </a:stretch>
        </p:blipFill>
        <p:spPr>
          <a:xfrm>
            <a:off x="5843016" y="2130552"/>
            <a:ext cx="402336" cy="402336"/>
          </a:xfrm>
          <a:prstGeom prst="rect">
            <a:avLst/>
          </a:prstGeom>
        </p:spPr>
      </p:pic>
      <p:sp>
        <p:nvSpPr>
          <p:cNvPr id="16" name="Text 11"/>
          <p:cNvSpPr/>
          <p:nvPr/>
        </p:nvSpPr>
        <p:spPr>
          <a:xfrm>
            <a:off x="4992624" y="2788920"/>
            <a:ext cx="210312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Trojans</a:t>
            </a:r>
            <a:endParaRPr lang="en-US" sz="1200" dirty="0"/>
          </a:p>
        </p:txBody>
      </p:sp>
      <p:sp>
        <p:nvSpPr>
          <p:cNvPr id="17" name="Shape 12"/>
          <p:cNvSpPr/>
          <p:nvPr/>
        </p:nvSpPr>
        <p:spPr>
          <a:xfrm>
            <a:off x="7214616" y="1783080"/>
            <a:ext cx="2103120" cy="1417320"/>
          </a:xfrm>
          <a:prstGeom prst="roundRect">
            <a:avLst>
              <a:gd name="adj" fmla="val 6452"/>
            </a:avLst>
          </a:prstGeom>
          <a:solidFill>
            <a:srgbClr val="13315C"/>
          </a:solidFill>
          <a:ln/>
        </p:spPr>
      </p:sp>
      <p:sp>
        <p:nvSpPr>
          <p:cNvPr id="18" name="Shape 13"/>
          <p:cNvSpPr/>
          <p:nvPr/>
        </p:nvSpPr>
        <p:spPr>
          <a:xfrm>
            <a:off x="7900416" y="1965960"/>
            <a:ext cx="731520" cy="731520"/>
          </a:xfrm>
          <a:prstGeom prst="ellipse">
            <a:avLst/>
          </a:prstGeom>
          <a:solidFill>
            <a:srgbClr val="0F335A"/>
          </a:solidFill>
          <a:ln/>
        </p:spPr>
      </p:sp>
      <p:pic>
        <p:nvPicPr>
          <p:cNvPr id="19" name="Image 3" descr="/home/claude/osec/icons/fileInvoiceDollar_cyan.png">    </p:cNvPr>
          <p:cNvPicPr>
            <a:picLocks noChangeAspect="1"/>
          </p:cNvPicPr>
          <p:nvPr/>
        </p:nvPicPr>
        <p:blipFill>
          <a:blip r:embed="rId4"/>
          <a:stretch>
            <a:fillRect/>
          </a:stretch>
        </p:blipFill>
        <p:spPr>
          <a:xfrm>
            <a:off x="8065008" y="2130552"/>
            <a:ext cx="402336" cy="402336"/>
          </a:xfrm>
          <a:prstGeom prst="rect">
            <a:avLst/>
          </a:prstGeom>
        </p:spPr>
      </p:pic>
      <p:sp>
        <p:nvSpPr>
          <p:cNvPr id="20" name="Text 14"/>
          <p:cNvSpPr/>
          <p:nvPr/>
        </p:nvSpPr>
        <p:spPr>
          <a:xfrm>
            <a:off x="7214616" y="2788920"/>
            <a:ext cx="210312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Ransomware</a:t>
            </a:r>
            <a:endParaRPr lang="en-US" sz="1200" dirty="0"/>
          </a:p>
        </p:txBody>
      </p:sp>
      <p:sp>
        <p:nvSpPr>
          <p:cNvPr id="21" name="Shape 15"/>
          <p:cNvSpPr/>
          <p:nvPr/>
        </p:nvSpPr>
        <p:spPr>
          <a:xfrm>
            <a:off x="9436608" y="1783080"/>
            <a:ext cx="2103120" cy="1417320"/>
          </a:xfrm>
          <a:prstGeom prst="roundRect">
            <a:avLst>
              <a:gd name="adj" fmla="val 6452"/>
            </a:avLst>
          </a:prstGeom>
          <a:solidFill>
            <a:srgbClr val="13315C"/>
          </a:solidFill>
          <a:ln/>
        </p:spPr>
      </p:sp>
      <p:sp>
        <p:nvSpPr>
          <p:cNvPr id="22" name="Shape 16"/>
          <p:cNvSpPr/>
          <p:nvPr/>
        </p:nvSpPr>
        <p:spPr>
          <a:xfrm>
            <a:off x="10122408" y="1965960"/>
            <a:ext cx="731520" cy="731520"/>
          </a:xfrm>
          <a:prstGeom prst="ellipse">
            <a:avLst/>
          </a:prstGeom>
          <a:solidFill>
            <a:srgbClr val="0F335A"/>
          </a:solidFill>
          <a:ln/>
        </p:spPr>
      </p:sp>
      <p:pic>
        <p:nvPicPr>
          <p:cNvPr id="23" name="Image 4" descr="/home/claude/osec/icons/eye_cyan.png">    </p:cNvPr>
          <p:cNvPicPr>
            <a:picLocks noChangeAspect="1"/>
          </p:cNvPicPr>
          <p:nvPr/>
        </p:nvPicPr>
        <p:blipFill>
          <a:blip r:embed="rId5"/>
          <a:stretch>
            <a:fillRect/>
          </a:stretch>
        </p:blipFill>
        <p:spPr>
          <a:xfrm>
            <a:off x="10287000" y="2130552"/>
            <a:ext cx="402336" cy="402336"/>
          </a:xfrm>
          <a:prstGeom prst="rect">
            <a:avLst/>
          </a:prstGeom>
        </p:spPr>
      </p:pic>
      <p:sp>
        <p:nvSpPr>
          <p:cNvPr id="24" name="Text 17"/>
          <p:cNvSpPr/>
          <p:nvPr/>
        </p:nvSpPr>
        <p:spPr>
          <a:xfrm>
            <a:off x="9436608" y="2788920"/>
            <a:ext cx="210312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Spyware</a:t>
            </a:r>
            <a:endParaRPr lang="en-US" sz="1200" dirty="0"/>
          </a:p>
        </p:txBody>
      </p:sp>
      <p:sp>
        <p:nvSpPr>
          <p:cNvPr id="25" name="Text 18"/>
          <p:cNvSpPr/>
          <p:nvPr/>
        </p:nvSpPr>
        <p:spPr>
          <a:xfrm>
            <a:off x="548640" y="3520440"/>
            <a:ext cx="5486400" cy="292608"/>
          </a:xfrm>
          <a:prstGeom prst="rect">
            <a:avLst/>
          </a:prstGeom>
          <a:noFill/>
          <a:ln/>
        </p:spPr>
        <p:txBody>
          <a:bodyPr wrap="square" rtlCol="0" anchor="ctr"/>
          <a:lstStyle/>
          <a:p>
            <a:pPr indent="0" marL="0">
              <a:buNone/>
            </a:pPr>
            <a:r>
              <a:rPr lang="en-US" sz="1300" b="1" spc="150" kern="0" dirty="0">
                <a:solidFill>
                  <a:srgbClr val="00B4D8"/>
                </a:solidFill>
                <a:latin typeface="Calibri" pitchFamily="34" charset="0"/>
                <a:ea typeface="Calibri" pitchFamily="34" charset="-122"/>
                <a:cs typeface="Calibri" pitchFamily="34" charset="-120"/>
              </a:rPr>
              <a:t>PROTECTION METHODS</a:t>
            </a:r>
            <a:endParaRPr lang="en-US" sz="1300" dirty="0"/>
          </a:p>
        </p:txBody>
      </p:sp>
      <p:sp>
        <p:nvSpPr>
          <p:cNvPr id="26" name="Shape 19"/>
          <p:cNvSpPr/>
          <p:nvPr/>
        </p:nvSpPr>
        <p:spPr>
          <a:xfrm>
            <a:off x="548640" y="3931920"/>
            <a:ext cx="502920" cy="502920"/>
          </a:xfrm>
          <a:prstGeom prst="ellipse">
            <a:avLst/>
          </a:prstGeom>
          <a:solidFill>
            <a:srgbClr val="13315C"/>
          </a:solidFill>
          <a:ln/>
        </p:spPr>
      </p:sp>
      <p:pic>
        <p:nvPicPr>
          <p:cNvPr id="27" name="Image 5" descr="/home/claude/osec/icons/shieldVirus_white.png">    </p:cNvPr>
          <p:cNvPicPr>
            <a:picLocks noChangeAspect="1"/>
          </p:cNvPicPr>
          <p:nvPr/>
        </p:nvPicPr>
        <p:blipFill>
          <a:blip r:embed="rId6"/>
          <a:stretch>
            <a:fillRect/>
          </a:stretch>
        </p:blipFill>
        <p:spPr>
          <a:xfrm>
            <a:off x="661797" y="4045077"/>
            <a:ext cx="276606" cy="276606"/>
          </a:xfrm>
          <a:prstGeom prst="rect">
            <a:avLst/>
          </a:prstGeom>
        </p:spPr>
      </p:pic>
      <p:sp>
        <p:nvSpPr>
          <p:cNvPr id="28" name="Text 20"/>
          <p:cNvSpPr/>
          <p:nvPr/>
        </p:nvSpPr>
        <p:spPr>
          <a:xfrm>
            <a:off x="1170432" y="3913632"/>
            <a:ext cx="1481328"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Antivirus</a:t>
            </a:r>
            <a:endParaRPr lang="en-US" sz="1150" dirty="0"/>
          </a:p>
        </p:txBody>
      </p:sp>
      <p:sp>
        <p:nvSpPr>
          <p:cNvPr id="29" name="Text 21"/>
          <p:cNvSpPr/>
          <p:nvPr/>
        </p:nvSpPr>
        <p:spPr>
          <a:xfrm>
            <a:off x="548640" y="4480560"/>
            <a:ext cx="2103120" cy="685800"/>
          </a:xfrm>
          <a:prstGeom prst="rect">
            <a:avLst/>
          </a:prstGeom>
          <a:noFill/>
          <a:ln/>
        </p:spPr>
        <p:txBody>
          <a:bodyPr wrap="square" lIns="0" tIns="0" rIns="0" bIns="0" rtlCol="0" anchor="ctr"/>
          <a:lstStyle/>
          <a:p>
            <a:pPr indent="0" marL="0">
              <a:lnSpc>
                <a:spcPct val="110000"/>
              </a:lnSpc>
              <a:buNone/>
            </a:pPr>
            <a:r>
              <a:rPr lang="en-US" sz="1000" dirty="0">
                <a:solidFill>
                  <a:srgbClr val="9FBBDA"/>
                </a:solidFill>
                <a:latin typeface="Calibri" pitchFamily="34" charset="0"/>
                <a:ea typeface="Calibri" pitchFamily="34" charset="-122"/>
                <a:cs typeface="Calibri" pitchFamily="34" charset="-120"/>
              </a:rPr>
              <a:t>Detects &amp; removes malicious code</a:t>
            </a:r>
            <a:endParaRPr lang="en-US" sz="1000" dirty="0"/>
          </a:p>
        </p:txBody>
      </p:sp>
      <p:sp>
        <p:nvSpPr>
          <p:cNvPr id="30" name="Shape 22"/>
          <p:cNvSpPr/>
          <p:nvPr/>
        </p:nvSpPr>
        <p:spPr>
          <a:xfrm>
            <a:off x="2770632" y="3931920"/>
            <a:ext cx="502920" cy="502920"/>
          </a:xfrm>
          <a:prstGeom prst="ellipse">
            <a:avLst/>
          </a:prstGeom>
          <a:solidFill>
            <a:srgbClr val="13315C"/>
          </a:solidFill>
          <a:ln/>
        </p:spPr>
      </p:sp>
      <p:pic>
        <p:nvPicPr>
          <p:cNvPr id="31" name="Image 6" descr="/home/claude/osec/icons/fire_white.png">    </p:cNvPr>
          <p:cNvPicPr>
            <a:picLocks noChangeAspect="1"/>
          </p:cNvPicPr>
          <p:nvPr/>
        </p:nvPicPr>
        <p:blipFill>
          <a:blip r:embed="rId7"/>
          <a:stretch>
            <a:fillRect/>
          </a:stretch>
        </p:blipFill>
        <p:spPr>
          <a:xfrm>
            <a:off x="2883789" y="4045077"/>
            <a:ext cx="276606" cy="276606"/>
          </a:xfrm>
          <a:prstGeom prst="rect">
            <a:avLst/>
          </a:prstGeom>
        </p:spPr>
      </p:pic>
      <p:sp>
        <p:nvSpPr>
          <p:cNvPr id="32" name="Text 23"/>
          <p:cNvSpPr/>
          <p:nvPr/>
        </p:nvSpPr>
        <p:spPr>
          <a:xfrm>
            <a:off x="3392424" y="3913632"/>
            <a:ext cx="1481328"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Firewall</a:t>
            </a:r>
            <a:endParaRPr lang="en-US" sz="1150" dirty="0"/>
          </a:p>
        </p:txBody>
      </p:sp>
      <p:sp>
        <p:nvSpPr>
          <p:cNvPr id="33" name="Text 24"/>
          <p:cNvSpPr/>
          <p:nvPr/>
        </p:nvSpPr>
        <p:spPr>
          <a:xfrm>
            <a:off x="2770632" y="4480560"/>
            <a:ext cx="2103120" cy="685800"/>
          </a:xfrm>
          <a:prstGeom prst="rect">
            <a:avLst/>
          </a:prstGeom>
          <a:noFill/>
          <a:ln/>
        </p:spPr>
        <p:txBody>
          <a:bodyPr wrap="square" lIns="0" tIns="0" rIns="0" bIns="0" rtlCol="0" anchor="ctr"/>
          <a:lstStyle/>
          <a:p>
            <a:pPr indent="0" marL="0">
              <a:lnSpc>
                <a:spcPct val="110000"/>
              </a:lnSpc>
              <a:buNone/>
            </a:pPr>
            <a:r>
              <a:rPr lang="en-US" sz="1000" dirty="0">
                <a:solidFill>
                  <a:srgbClr val="9FBBDA"/>
                </a:solidFill>
                <a:latin typeface="Calibri" pitchFamily="34" charset="0"/>
                <a:ea typeface="Calibri" pitchFamily="34" charset="-122"/>
                <a:cs typeface="Calibri" pitchFamily="34" charset="-120"/>
              </a:rPr>
              <a:t>Filters unwanted network traffic</a:t>
            </a:r>
            <a:endParaRPr lang="en-US" sz="1000" dirty="0"/>
          </a:p>
        </p:txBody>
      </p:sp>
      <p:sp>
        <p:nvSpPr>
          <p:cNvPr id="34" name="Shape 25"/>
          <p:cNvSpPr/>
          <p:nvPr/>
        </p:nvSpPr>
        <p:spPr>
          <a:xfrm>
            <a:off x="4992624" y="3931920"/>
            <a:ext cx="502920" cy="502920"/>
          </a:xfrm>
          <a:prstGeom prst="ellipse">
            <a:avLst/>
          </a:prstGeom>
          <a:solidFill>
            <a:srgbClr val="13315C"/>
          </a:solidFill>
          <a:ln/>
        </p:spPr>
      </p:sp>
      <p:pic>
        <p:nvPicPr>
          <p:cNvPr id="35" name="Image 7" descr="/home/claude/osec/icons/sync_white.png">    </p:cNvPr>
          <p:cNvPicPr>
            <a:picLocks noChangeAspect="1"/>
          </p:cNvPicPr>
          <p:nvPr/>
        </p:nvPicPr>
        <p:blipFill>
          <a:blip r:embed="rId8"/>
          <a:stretch>
            <a:fillRect/>
          </a:stretch>
        </p:blipFill>
        <p:spPr>
          <a:xfrm>
            <a:off x="5105781" y="4045077"/>
            <a:ext cx="276606" cy="276606"/>
          </a:xfrm>
          <a:prstGeom prst="rect">
            <a:avLst/>
          </a:prstGeom>
        </p:spPr>
      </p:pic>
      <p:sp>
        <p:nvSpPr>
          <p:cNvPr id="36" name="Text 26"/>
          <p:cNvSpPr/>
          <p:nvPr/>
        </p:nvSpPr>
        <p:spPr>
          <a:xfrm>
            <a:off x="5614416" y="3913632"/>
            <a:ext cx="1481328"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Auto Updates</a:t>
            </a:r>
            <a:endParaRPr lang="en-US" sz="1150" dirty="0"/>
          </a:p>
        </p:txBody>
      </p:sp>
      <p:sp>
        <p:nvSpPr>
          <p:cNvPr id="37" name="Text 27"/>
          <p:cNvSpPr/>
          <p:nvPr/>
        </p:nvSpPr>
        <p:spPr>
          <a:xfrm>
            <a:off x="4992624" y="4480560"/>
            <a:ext cx="2103120" cy="685800"/>
          </a:xfrm>
          <a:prstGeom prst="rect">
            <a:avLst/>
          </a:prstGeom>
          <a:noFill/>
          <a:ln/>
        </p:spPr>
        <p:txBody>
          <a:bodyPr wrap="square" lIns="0" tIns="0" rIns="0" bIns="0" rtlCol="0" anchor="ctr"/>
          <a:lstStyle/>
          <a:p>
            <a:pPr indent="0" marL="0">
              <a:lnSpc>
                <a:spcPct val="110000"/>
              </a:lnSpc>
              <a:buNone/>
            </a:pPr>
            <a:r>
              <a:rPr lang="en-US" sz="1000" dirty="0">
                <a:solidFill>
                  <a:srgbClr val="9FBBDA"/>
                </a:solidFill>
                <a:latin typeface="Calibri" pitchFamily="34" charset="0"/>
                <a:ea typeface="Calibri" pitchFamily="34" charset="-122"/>
                <a:cs typeface="Calibri" pitchFamily="34" charset="-120"/>
              </a:rPr>
              <a:t>Patches known vulnerabilities</a:t>
            </a:r>
            <a:endParaRPr lang="en-US" sz="1000" dirty="0"/>
          </a:p>
        </p:txBody>
      </p:sp>
      <p:sp>
        <p:nvSpPr>
          <p:cNvPr id="38" name="Shape 28"/>
          <p:cNvSpPr/>
          <p:nvPr/>
        </p:nvSpPr>
        <p:spPr>
          <a:xfrm>
            <a:off x="7214616" y="3931920"/>
            <a:ext cx="502920" cy="502920"/>
          </a:xfrm>
          <a:prstGeom prst="ellipse">
            <a:avLst/>
          </a:prstGeom>
          <a:solidFill>
            <a:srgbClr val="13315C"/>
          </a:solidFill>
          <a:ln/>
        </p:spPr>
      </p:sp>
      <p:pic>
        <p:nvPicPr>
          <p:cNvPr id="39" name="Image 8" descr="/home/claude/osec/icons/globe_white.png">    </p:cNvPr>
          <p:cNvPicPr>
            <a:picLocks noChangeAspect="1"/>
          </p:cNvPicPr>
          <p:nvPr/>
        </p:nvPicPr>
        <p:blipFill>
          <a:blip r:embed="rId9"/>
          <a:stretch>
            <a:fillRect/>
          </a:stretch>
        </p:blipFill>
        <p:spPr>
          <a:xfrm>
            <a:off x="7327773" y="4045077"/>
            <a:ext cx="276606" cy="276606"/>
          </a:xfrm>
          <a:prstGeom prst="rect">
            <a:avLst/>
          </a:prstGeom>
        </p:spPr>
      </p:pic>
      <p:sp>
        <p:nvSpPr>
          <p:cNvPr id="40" name="Text 29"/>
          <p:cNvSpPr/>
          <p:nvPr/>
        </p:nvSpPr>
        <p:spPr>
          <a:xfrm>
            <a:off x="7836408" y="3913632"/>
            <a:ext cx="1481328"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Safe Browsing</a:t>
            </a:r>
            <a:endParaRPr lang="en-US" sz="1150" dirty="0"/>
          </a:p>
        </p:txBody>
      </p:sp>
      <p:sp>
        <p:nvSpPr>
          <p:cNvPr id="41" name="Text 30"/>
          <p:cNvSpPr/>
          <p:nvPr/>
        </p:nvSpPr>
        <p:spPr>
          <a:xfrm>
            <a:off x="7214616" y="4480560"/>
            <a:ext cx="2103120" cy="685800"/>
          </a:xfrm>
          <a:prstGeom prst="rect">
            <a:avLst/>
          </a:prstGeom>
          <a:noFill/>
          <a:ln/>
        </p:spPr>
        <p:txBody>
          <a:bodyPr wrap="square" lIns="0" tIns="0" rIns="0" bIns="0" rtlCol="0" anchor="ctr"/>
          <a:lstStyle/>
          <a:p>
            <a:pPr indent="0" marL="0">
              <a:lnSpc>
                <a:spcPct val="110000"/>
              </a:lnSpc>
              <a:buNone/>
            </a:pPr>
            <a:r>
              <a:rPr lang="en-US" sz="1000" dirty="0">
                <a:solidFill>
                  <a:srgbClr val="9FBBDA"/>
                </a:solidFill>
                <a:latin typeface="Calibri" pitchFamily="34" charset="0"/>
                <a:ea typeface="Calibri" pitchFamily="34" charset="-122"/>
                <a:cs typeface="Calibri" pitchFamily="34" charset="-120"/>
              </a:rPr>
              <a:t>Blocks malicious websites</a:t>
            </a:r>
            <a:endParaRPr lang="en-US" sz="1000" dirty="0"/>
          </a:p>
        </p:txBody>
      </p:sp>
      <p:sp>
        <p:nvSpPr>
          <p:cNvPr id="42" name="Shape 31"/>
          <p:cNvSpPr/>
          <p:nvPr/>
        </p:nvSpPr>
        <p:spPr>
          <a:xfrm>
            <a:off x="9436608" y="3931920"/>
            <a:ext cx="502920" cy="502920"/>
          </a:xfrm>
          <a:prstGeom prst="ellipse">
            <a:avLst/>
          </a:prstGeom>
          <a:solidFill>
            <a:srgbClr val="13315C"/>
          </a:solidFill>
          <a:ln/>
        </p:spPr>
      </p:sp>
      <p:pic>
        <p:nvPicPr>
          <p:cNvPr id="43" name="Image 9" descr="/home/claude/osec/icons/envelope_white.png">    </p:cNvPr>
          <p:cNvPicPr>
            <a:picLocks noChangeAspect="1"/>
          </p:cNvPicPr>
          <p:nvPr/>
        </p:nvPicPr>
        <p:blipFill>
          <a:blip r:embed="rId10"/>
          <a:stretch>
            <a:fillRect/>
          </a:stretch>
        </p:blipFill>
        <p:spPr>
          <a:xfrm>
            <a:off x="9549765" y="4045077"/>
            <a:ext cx="276606" cy="276606"/>
          </a:xfrm>
          <a:prstGeom prst="rect">
            <a:avLst/>
          </a:prstGeom>
        </p:spPr>
      </p:pic>
      <p:sp>
        <p:nvSpPr>
          <p:cNvPr id="44" name="Text 32"/>
          <p:cNvSpPr/>
          <p:nvPr/>
        </p:nvSpPr>
        <p:spPr>
          <a:xfrm>
            <a:off x="10058400" y="3913632"/>
            <a:ext cx="1481328" cy="2743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Email Security</a:t>
            </a:r>
            <a:endParaRPr lang="en-US" sz="1150" dirty="0"/>
          </a:p>
        </p:txBody>
      </p:sp>
      <p:sp>
        <p:nvSpPr>
          <p:cNvPr id="45" name="Text 33"/>
          <p:cNvSpPr/>
          <p:nvPr/>
        </p:nvSpPr>
        <p:spPr>
          <a:xfrm>
            <a:off x="9436608" y="4480560"/>
            <a:ext cx="2103120" cy="685800"/>
          </a:xfrm>
          <a:prstGeom prst="rect">
            <a:avLst/>
          </a:prstGeom>
          <a:noFill/>
          <a:ln/>
        </p:spPr>
        <p:txBody>
          <a:bodyPr wrap="square" lIns="0" tIns="0" rIns="0" bIns="0" rtlCol="0" anchor="ctr"/>
          <a:lstStyle/>
          <a:p>
            <a:pPr indent="0" marL="0">
              <a:lnSpc>
                <a:spcPct val="110000"/>
              </a:lnSpc>
              <a:buNone/>
            </a:pPr>
            <a:r>
              <a:rPr lang="en-US" sz="1000" dirty="0">
                <a:solidFill>
                  <a:srgbClr val="9FBBDA"/>
                </a:solidFill>
                <a:latin typeface="Calibri" pitchFamily="34" charset="0"/>
                <a:ea typeface="Calibri" pitchFamily="34" charset="-122"/>
                <a:cs typeface="Calibri" pitchFamily="34" charset="-120"/>
              </a:rPr>
              <a:t>Screens phishing &amp; attachments</a:t>
            </a:r>
            <a:endParaRPr lang="en-US" sz="1000" dirty="0"/>
          </a:p>
        </p:txBody>
      </p:sp>
      <p:sp>
        <p:nvSpPr>
          <p:cNvPr id="46" name="Text 34"/>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AFC6E0"/>
                </a:solidFill>
                <a:latin typeface="Calibri" pitchFamily="34" charset="0"/>
                <a:ea typeface="Calibri" pitchFamily="34" charset="-122"/>
                <a:cs typeface="Calibri" pitchFamily="34" charset="-120"/>
              </a:rPr>
              <a:t>5</a:t>
            </a:r>
            <a:endParaRPr lang="en-US" sz="1100" dirty="0"/>
          </a:p>
        </p:txBody>
      </p:sp>
      <p:sp>
        <p:nvSpPr>
          <p:cNvPr id="47" name="Text 35"/>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C8CB5"/>
                </a:solidFill>
                <a:latin typeface="Calibri" pitchFamily="34" charset="0"/>
                <a:ea typeface="Calibri" pitchFamily="34" charset="-122"/>
                <a:cs typeface="Calibri" pitchFamily="34" charset="-120"/>
              </a:rPr>
              <a:t>Modern Operating System Security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3000" b="1" dirty="0">
                <a:solidFill>
                  <a:srgbClr val="0B2545"/>
                </a:solidFill>
                <a:latin typeface="Cambria" pitchFamily="34" charset="0"/>
                <a:ea typeface="Cambria" pitchFamily="34" charset="-122"/>
                <a:cs typeface="Cambria" pitchFamily="34" charset="-120"/>
              </a:rPr>
              <a:t>Secure Boot</a:t>
            </a:r>
            <a:endParaRPr lang="en-US" sz="3000" dirty="0"/>
          </a:p>
        </p:txBody>
      </p:sp>
      <p:sp>
        <p:nvSpPr>
          <p:cNvPr id="3" name="Text 1"/>
          <p:cNvSpPr/>
          <p:nvPr/>
        </p:nvSpPr>
        <p:spPr>
          <a:xfrm>
            <a:off x="548640" y="914400"/>
            <a:ext cx="8229600" cy="320040"/>
          </a:xfrm>
          <a:prstGeom prst="rect">
            <a:avLst/>
          </a:prstGeom>
          <a:noFill/>
          <a:ln/>
        </p:spPr>
        <p:txBody>
          <a:bodyPr wrap="square" rtlCol="0" anchor="ctr"/>
          <a:lstStyle/>
          <a:p>
            <a:pPr indent="0" marL="0">
              <a:buNone/>
            </a:pPr>
            <a:r>
              <a:rPr lang="en-US" sz="1300" i="1" dirty="0">
                <a:solidFill>
                  <a:srgbClr val="5B6B7A"/>
                </a:solidFill>
                <a:latin typeface="Calibri" pitchFamily="34" charset="0"/>
                <a:ea typeface="Calibri" pitchFamily="34" charset="-122"/>
                <a:cs typeface="Calibri" pitchFamily="34" charset="-120"/>
              </a:rPr>
              <a:t>Ensuring the system starts with trusted, unmodified software</a:t>
            </a:r>
            <a:endParaRPr lang="en-US" sz="1300" dirty="0"/>
          </a:p>
        </p:txBody>
      </p:sp>
      <p:sp>
        <p:nvSpPr>
          <p:cNvPr id="4" name="Shape 2"/>
          <p:cNvSpPr/>
          <p:nvPr/>
        </p:nvSpPr>
        <p:spPr>
          <a:xfrm>
            <a:off x="548640" y="1508760"/>
            <a:ext cx="457200" cy="457200"/>
          </a:xfrm>
          <a:prstGeom prst="ellipse">
            <a:avLst/>
          </a:prstGeom>
          <a:solidFill>
            <a:srgbClr val="E8F1FB"/>
          </a:solidFill>
          <a:ln/>
        </p:spPr>
      </p:sp>
      <p:pic>
        <p:nvPicPr>
          <p:cNvPr id="5" name="Image 0" descr="/home/claude/osec/icons/microchip_steel.png">    </p:cNvPr>
          <p:cNvPicPr>
            <a:picLocks noChangeAspect="1"/>
          </p:cNvPicPr>
          <p:nvPr/>
        </p:nvPicPr>
        <p:blipFill>
          <a:blip r:embed="rId1"/>
          <a:stretch>
            <a:fillRect/>
          </a:stretch>
        </p:blipFill>
        <p:spPr>
          <a:xfrm>
            <a:off x="649224" y="1609344"/>
            <a:ext cx="256032" cy="256032"/>
          </a:xfrm>
          <a:prstGeom prst="rect">
            <a:avLst/>
          </a:prstGeom>
        </p:spPr>
      </p:pic>
      <p:sp>
        <p:nvSpPr>
          <p:cNvPr id="6" name="Text 3"/>
          <p:cNvSpPr/>
          <p:nvPr/>
        </p:nvSpPr>
        <p:spPr>
          <a:xfrm>
            <a:off x="1170432" y="1481328"/>
            <a:ext cx="45902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UEFI Firmware</a:t>
            </a:r>
            <a:endParaRPr lang="en-US" sz="1450" dirty="0"/>
          </a:p>
        </p:txBody>
      </p:sp>
      <p:sp>
        <p:nvSpPr>
          <p:cNvPr id="7" name="Text 4"/>
          <p:cNvSpPr/>
          <p:nvPr/>
        </p:nvSpPr>
        <p:spPr>
          <a:xfrm>
            <a:off x="1170432" y="1755648"/>
            <a:ext cx="45902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Modern firmware that replaces legacy BIOS and enables Secure Boot.</a:t>
            </a:r>
            <a:endParaRPr lang="en-US" sz="1150" dirty="0"/>
          </a:p>
        </p:txBody>
      </p:sp>
      <p:sp>
        <p:nvSpPr>
          <p:cNvPr id="8" name="Shape 5"/>
          <p:cNvSpPr/>
          <p:nvPr/>
        </p:nvSpPr>
        <p:spPr>
          <a:xfrm>
            <a:off x="548640" y="2560320"/>
            <a:ext cx="457200" cy="457200"/>
          </a:xfrm>
          <a:prstGeom prst="ellipse">
            <a:avLst/>
          </a:prstGeom>
          <a:solidFill>
            <a:srgbClr val="E8F1FB"/>
          </a:solidFill>
          <a:ln/>
        </p:spPr>
      </p:sp>
      <p:pic>
        <p:nvPicPr>
          <p:cNvPr id="9" name="Image 1" descr="/home/claude/osec/icons/checkCircle_steel.png">    </p:cNvPr>
          <p:cNvPicPr>
            <a:picLocks noChangeAspect="1"/>
          </p:cNvPicPr>
          <p:nvPr/>
        </p:nvPicPr>
        <p:blipFill>
          <a:blip r:embed="rId2"/>
          <a:stretch>
            <a:fillRect/>
          </a:stretch>
        </p:blipFill>
        <p:spPr>
          <a:xfrm>
            <a:off x="649224" y="2660904"/>
            <a:ext cx="256032" cy="256032"/>
          </a:xfrm>
          <a:prstGeom prst="rect">
            <a:avLst/>
          </a:prstGeom>
        </p:spPr>
      </p:pic>
      <p:sp>
        <p:nvSpPr>
          <p:cNvPr id="10" name="Text 6"/>
          <p:cNvSpPr/>
          <p:nvPr/>
        </p:nvSpPr>
        <p:spPr>
          <a:xfrm>
            <a:off x="1170432" y="2532888"/>
            <a:ext cx="45902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Digital Signatures</a:t>
            </a:r>
            <a:endParaRPr lang="en-US" sz="1450" dirty="0"/>
          </a:p>
        </p:txBody>
      </p:sp>
      <p:sp>
        <p:nvSpPr>
          <p:cNvPr id="11" name="Text 7"/>
          <p:cNvSpPr/>
          <p:nvPr/>
        </p:nvSpPr>
        <p:spPr>
          <a:xfrm>
            <a:off x="1170432" y="2807208"/>
            <a:ext cx="45902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Each boot component is verified against a trusted signature.</a:t>
            </a:r>
            <a:endParaRPr lang="en-US" sz="1150" dirty="0"/>
          </a:p>
        </p:txBody>
      </p:sp>
      <p:sp>
        <p:nvSpPr>
          <p:cNvPr id="12" name="Shape 8"/>
          <p:cNvSpPr/>
          <p:nvPr/>
        </p:nvSpPr>
        <p:spPr>
          <a:xfrm>
            <a:off x="548640" y="3611880"/>
            <a:ext cx="457200" cy="457200"/>
          </a:xfrm>
          <a:prstGeom prst="ellipse">
            <a:avLst/>
          </a:prstGeom>
          <a:solidFill>
            <a:srgbClr val="E8F1FB"/>
          </a:solidFill>
          <a:ln/>
        </p:spPr>
      </p:sp>
      <p:pic>
        <p:nvPicPr>
          <p:cNvPr id="13" name="Image 2" descr="/home/claude/osec/icons/ban_steel.png">    </p:cNvPr>
          <p:cNvPicPr>
            <a:picLocks noChangeAspect="1"/>
          </p:cNvPicPr>
          <p:nvPr/>
        </p:nvPicPr>
        <p:blipFill>
          <a:blip r:embed="rId3"/>
          <a:stretch>
            <a:fillRect/>
          </a:stretch>
        </p:blipFill>
        <p:spPr>
          <a:xfrm>
            <a:off x="649224" y="3712464"/>
            <a:ext cx="256032" cy="256032"/>
          </a:xfrm>
          <a:prstGeom prst="rect">
            <a:avLst/>
          </a:prstGeom>
        </p:spPr>
      </p:pic>
      <p:sp>
        <p:nvSpPr>
          <p:cNvPr id="14" name="Text 9"/>
          <p:cNvSpPr/>
          <p:nvPr/>
        </p:nvSpPr>
        <p:spPr>
          <a:xfrm>
            <a:off x="1170432" y="3584448"/>
            <a:ext cx="45902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Blocks Bootkits &amp; Rootkits</a:t>
            </a:r>
            <a:endParaRPr lang="en-US" sz="1450" dirty="0"/>
          </a:p>
        </p:txBody>
      </p:sp>
      <p:sp>
        <p:nvSpPr>
          <p:cNvPr id="15" name="Text 10"/>
          <p:cNvSpPr/>
          <p:nvPr/>
        </p:nvSpPr>
        <p:spPr>
          <a:xfrm>
            <a:off x="1170432" y="3858768"/>
            <a:ext cx="45902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Unsigned or tampered code is refused before it can load.</a:t>
            </a:r>
            <a:endParaRPr lang="en-US" sz="1150" dirty="0"/>
          </a:p>
        </p:txBody>
      </p:sp>
      <p:sp>
        <p:nvSpPr>
          <p:cNvPr id="16" name="Shape 11"/>
          <p:cNvSpPr/>
          <p:nvPr/>
        </p:nvSpPr>
        <p:spPr>
          <a:xfrm>
            <a:off x="548640" y="4663440"/>
            <a:ext cx="457200" cy="457200"/>
          </a:xfrm>
          <a:prstGeom prst="ellipse">
            <a:avLst/>
          </a:prstGeom>
          <a:solidFill>
            <a:srgbClr val="E8F1FB"/>
          </a:solidFill>
          <a:ln/>
        </p:spPr>
      </p:sp>
      <p:pic>
        <p:nvPicPr>
          <p:cNvPr id="17" name="Image 3" descr="/home/claude/osec/icons/shield_steel.png">    </p:cNvPr>
          <p:cNvPicPr>
            <a:picLocks noChangeAspect="1"/>
          </p:cNvPicPr>
          <p:nvPr/>
        </p:nvPicPr>
        <p:blipFill>
          <a:blip r:embed="rId4"/>
          <a:stretch>
            <a:fillRect/>
          </a:stretch>
        </p:blipFill>
        <p:spPr>
          <a:xfrm>
            <a:off x="649224" y="4764024"/>
            <a:ext cx="256032" cy="256032"/>
          </a:xfrm>
          <a:prstGeom prst="rect">
            <a:avLst/>
          </a:prstGeom>
        </p:spPr>
      </p:pic>
      <p:sp>
        <p:nvSpPr>
          <p:cNvPr id="18" name="Text 12"/>
          <p:cNvSpPr/>
          <p:nvPr/>
        </p:nvSpPr>
        <p:spPr>
          <a:xfrm>
            <a:off x="1170432" y="4636008"/>
            <a:ext cx="4590288" cy="292608"/>
          </a:xfrm>
          <a:prstGeom prst="rect">
            <a:avLst/>
          </a:prstGeom>
          <a:noFill/>
          <a:ln/>
        </p:spPr>
        <p:txBody>
          <a:bodyPr wrap="square" lIns="0" tIns="0" rIns="0" bIns="0" rtlCol="0" anchor="b"/>
          <a:lstStyle/>
          <a:p>
            <a:pPr indent="0" marL="0">
              <a:buNone/>
            </a:pPr>
            <a:r>
              <a:rPr lang="en-US" sz="1450" b="1" dirty="0">
                <a:solidFill>
                  <a:srgbClr val="0B2545"/>
                </a:solidFill>
                <a:latin typeface="Calibri" pitchFamily="34" charset="0"/>
                <a:ea typeface="Calibri" pitchFamily="34" charset="-122"/>
                <a:cs typeface="Calibri" pitchFamily="34" charset="-120"/>
              </a:rPr>
              <a:t>Advantages</a:t>
            </a:r>
            <a:endParaRPr lang="en-US" sz="1450" dirty="0"/>
          </a:p>
        </p:txBody>
      </p:sp>
      <p:sp>
        <p:nvSpPr>
          <p:cNvPr id="19" name="Text 13"/>
          <p:cNvSpPr/>
          <p:nvPr/>
        </p:nvSpPr>
        <p:spPr>
          <a:xfrm>
            <a:off x="1170432" y="4910328"/>
            <a:ext cx="4590288" cy="457200"/>
          </a:xfrm>
          <a:prstGeom prst="rect">
            <a:avLst/>
          </a:prstGeom>
          <a:noFill/>
          <a:ln/>
        </p:spPr>
        <p:txBody>
          <a:bodyPr wrap="square" lIns="0" tIns="0" rIns="0" bIns="0" rtlCol="0" anchor="t"/>
          <a:lstStyle/>
          <a:p>
            <a:pPr indent="0" marL="0">
              <a:lnSpc>
                <a:spcPct val="105000"/>
              </a:lnSpc>
              <a:buNone/>
            </a:pPr>
            <a:r>
              <a:rPr lang="en-US" sz="1150" dirty="0">
                <a:solidFill>
                  <a:srgbClr val="36454F"/>
                </a:solidFill>
                <a:latin typeface="Calibri" pitchFamily="34" charset="0"/>
                <a:ea typeface="Calibri" pitchFamily="34" charset="-122"/>
                <a:cs typeface="Calibri" pitchFamily="34" charset="-120"/>
              </a:rPr>
              <a:t>Builds a trusted chain from power-on to OS, reducing the attack surface.</a:t>
            </a:r>
            <a:endParaRPr lang="en-US" sz="1150" dirty="0"/>
          </a:p>
        </p:txBody>
      </p:sp>
      <p:sp>
        <p:nvSpPr>
          <p:cNvPr id="20" name="Shape 14"/>
          <p:cNvSpPr/>
          <p:nvPr/>
        </p:nvSpPr>
        <p:spPr>
          <a:xfrm>
            <a:off x="6172200" y="1371600"/>
            <a:ext cx="5440680" cy="4892040"/>
          </a:xfrm>
          <a:prstGeom prst="roundRect">
            <a:avLst>
              <a:gd name="adj" fmla="val 2617"/>
            </a:avLst>
          </a:prstGeom>
          <a:solidFill>
            <a:srgbClr val="0B2545"/>
          </a:solidFill>
          <a:ln/>
        </p:spPr>
      </p:sp>
      <p:sp>
        <p:nvSpPr>
          <p:cNvPr id="21" name="Text 15"/>
          <p:cNvSpPr/>
          <p:nvPr/>
        </p:nvSpPr>
        <p:spPr>
          <a:xfrm>
            <a:off x="6172200" y="1536192"/>
            <a:ext cx="5440680" cy="320040"/>
          </a:xfrm>
          <a:prstGeom prst="rect">
            <a:avLst/>
          </a:prstGeom>
          <a:noFill/>
          <a:ln/>
        </p:spPr>
        <p:txBody>
          <a:bodyPr wrap="square" rtlCol="0" anchor="ctr"/>
          <a:lstStyle/>
          <a:p>
            <a:pPr algn="ctr" indent="0" marL="0">
              <a:buNone/>
            </a:pPr>
            <a:r>
              <a:rPr lang="en-US" sz="1300" b="1" spc="150" kern="0" dirty="0">
                <a:solidFill>
                  <a:srgbClr val="00B4D8"/>
                </a:solidFill>
                <a:latin typeface="Calibri" pitchFamily="34" charset="0"/>
                <a:ea typeface="Calibri" pitchFamily="34" charset="-122"/>
                <a:cs typeface="Calibri" pitchFamily="34" charset="-120"/>
              </a:rPr>
              <a:t>SECURE BOOT SEQUENCE</a:t>
            </a:r>
            <a:endParaRPr lang="en-US" sz="1300" dirty="0"/>
          </a:p>
        </p:txBody>
      </p:sp>
      <p:sp>
        <p:nvSpPr>
          <p:cNvPr id="22" name="Shape 16"/>
          <p:cNvSpPr/>
          <p:nvPr/>
        </p:nvSpPr>
        <p:spPr>
          <a:xfrm>
            <a:off x="6492240" y="2057400"/>
            <a:ext cx="4800600" cy="658368"/>
          </a:xfrm>
          <a:prstGeom prst="roundRect">
            <a:avLst>
              <a:gd name="adj" fmla="val 12500"/>
            </a:avLst>
          </a:prstGeom>
          <a:solidFill>
            <a:srgbClr val="13315C"/>
          </a:solidFill>
          <a:ln/>
        </p:spPr>
      </p:sp>
      <p:sp>
        <p:nvSpPr>
          <p:cNvPr id="23" name="Shape 17"/>
          <p:cNvSpPr/>
          <p:nvPr/>
        </p:nvSpPr>
        <p:spPr>
          <a:xfrm>
            <a:off x="6675120" y="2139696"/>
            <a:ext cx="493776" cy="493776"/>
          </a:xfrm>
          <a:prstGeom prst="ellipse">
            <a:avLst/>
          </a:prstGeom>
          <a:solidFill>
            <a:srgbClr val="0F335A"/>
          </a:solidFill>
          <a:ln/>
        </p:spPr>
      </p:sp>
      <p:pic>
        <p:nvPicPr>
          <p:cNvPr id="24" name="Image 4" descr="/home/claude/osec/icons/power_cyan.png">    </p:cNvPr>
          <p:cNvPicPr>
            <a:picLocks noChangeAspect="1"/>
          </p:cNvPicPr>
          <p:nvPr/>
        </p:nvPicPr>
        <p:blipFill>
          <a:blip r:embed="rId5"/>
          <a:stretch>
            <a:fillRect/>
          </a:stretch>
        </p:blipFill>
        <p:spPr>
          <a:xfrm>
            <a:off x="6786220" y="2250796"/>
            <a:ext cx="271577" cy="271577"/>
          </a:xfrm>
          <a:prstGeom prst="rect">
            <a:avLst/>
          </a:prstGeom>
        </p:spPr>
      </p:pic>
      <p:sp>
        <p:nvSpPr>
          <p:cNvPr id="25" name="Text 18"/>
          <p:cNvSpPr/>
          <p:nvPr/>
        </p:nvSpPr>
        <p:spPr>
          <a:xfrm>
            <a:off x="7315200" y="2057400"/>
            <a:ext cx="384048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Power On</a:t>
            </a:r>
            <a:endParaRPr lang="en-US" sz="1300" dirty="0"/>
          </a:p>
        </p:txBody>
      </p:sp>
      <p:pic>
        <p:nvPicPr>
          <p:cNvPr id="26" name="Image 5" descr="/home/claude/osec/icons/arrowRight_cyan.png">    </p:cNvPr>
          <p:cNvPicPr>
            <a:picLocks noChangeAspect="1"/>
          </p:cNvPicPr>
          <p:nvPr/>
        </p:nvPicPr>
        <p:blipFill>
          <a:blip r:embed="rId6"/>
          <a:stretch>
            <a:fillRect/>
          </a:stretch>
        </p:blipFill>
        <p:spPr>
          <a:xfrm rot="5400000">
            <a:off x="8778240" y="2734056"/>
            <a:ext cx="219456" cy="219456"/>
          </a:xfrm>
          <a:prstGeom prst="rect">
            <a:avLst/>
          </a:prstGeom>
        </p:spPr>
      </p:pic>
      <p:sp>
        <p:nvSpPr>
          <p:cNvPr id="27" name="Shape 19"/>
          <p:cNvSpPr/>
          <p:nvPr/>
        </p:nvSpPr>
        <p:spPr>
          <a:xfrm>
            <a:off x="6492240" y="2990088"/>
            <a:ext cx="4800600" cy="658368"/>
          </a:xfrm>
          <a:prstGeom prst="roundRect">
            <a:avLst>
              <a:gd name="adj" fmla="val 12500"/>
            </a:avLst>
          </a:prstGeom>
          <a:solidFill>
            <a:srgbClr val="13315C"/>
          </a:solidFill>
          <a:ln/>
        </p:spPr>
      </p:sp>
      <p:sp>
        <p:nvSpPr>
          <p:cNvPr id="28" name="Shape 20"/>
          <p:cNvSpPr/>
          <p:nvPr/>
        </p:nvSpPr>
        <p:spPr>
          <a:xfrm>
            <a:off x="6675120" y="3072384"/>
            <a:ext cx="493776" cy="493776"/>
          </a:xfrm>
          <a:prstGeom prst="ellipse">
            <a:avLst/>
          </a:prstGeom>
          <a:solidFill>
            <a:srgbClr val="0F335A"/>
          </a:solidFill>
          <a:ln/>
        </p:spPr>
      </p:sp>
      <p:pic>
        <p:nvPicPr>
          <p:cNvPr id="29" name="Image 6" descr="/home/claude/osec/icons/microchip_cyan.png">    </p:cNvPr>
          <p:cNvPicPr>
            <a:picLocks noChangeAspect="1"/>
          </p:cNvPicPr>
          <p:nvPr/>
        </p:nvPicPr>
        <p:blipFill>
          <a:blip r:embed="rId7"/>
          <a:stretch>
            <a:fillRect/>
          </a:stretch>
        </p:blipFill>
        <p:spPr>
          <a:xfrm>
            <a:off x="6786220" y="3183484"/>
            <a:ext cx="271577" cy="271577"/>
          </a:xfrm>
          <a:prstGeom prst="rect">
            <a:avLst/>
          </a:prstGeom>
        </p:spPr>
      </p:pic>
      <p:sp>
        <p:nvSpPr>
          <p:cNvPr id="30" name="Text 21"/>
          <p:cNvSpPr/>
          <p:nvPr/>
        </p:nvSpPr>
        <p:spPr>
          <a:xfrm>
            <a:off x="7315200" y="2990088"/>
            <a:ext cx="384048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Firmware Initializes (UEFI)</a:t>
            </a:r>
            <a:endParaRPr lang="en-US" sz="1300" dirty="0"/>
          </a:p>
        </p:txBody>
      </p:sp>
      <p:pic>
        <p:nvPicPr>
          <p:cNvPr id="31" name="Image 7" descr="/home/claude/osec/icons/arrowRight_cyan.png">    </p:cNvPr>
          <p:cNvPicPr>
            <a:picLocks noChangeAspect="1"/>
          </p:cNvPicPr>
          <p:nvPr/>
        </p:nvPicPr>
        <p:blipFill>
          <a:blip r:embed="rId8"/>
          <a:stretch>
            <a:fillRect/>
          </a:stretch>
        </p:blipFill>
        <p:spPr>
          <a:xfrm rot="5400000">
            <a:off x="8778240" y="3666744"/>
            <a:ext cx="219456" cy="219456"/>
          </a:xfrm>
          <a:prstGeom prst="rect">
            <a:avLst/>
          </a:prstGeom>
        </p:spPr>
      </p:pic>
      <p:sp>
        <p:nvSpPr>
          <p:cNvPr id="32" name="Shape 22"/>
          <p:cNvSpPr/>
          <p:nvPr/>
        </p:nvSpPr>
        <p:spPr>
          <a:xfrm>
            <a:off x="6492240" y="3922776"/>
            <a:ext cx="4800600" cy="658368"/>
          </a:xfrm>
          <a:prstGeom prst="roundRect">
            <a:avLst>
              <a:gd name="adj" fmla="val 12500"/>
            </a:avLst>
          </a:prstGeom>
          <a:solidFill>
            <a:srgbClr val="13315C"/>
          </a:solidFill>
          <a:ln/>
        </p:spPr>
      </p:sp>
      <p:sp>
        <p:nvSpPr>
          <p:cNvPr id="33" name="Shape 23"/>
          <p:cNvSpPr/>
          <p:nvPr/>
        </p:nvSpPr>
        <p:spPr>
          <a:xfrm>
            <a:off x="6675120" y="4005072"/>
            <a:ext cx="493776" cy="493776"/>
          </a:xfrm>
          <a:prstGeom prst="ellipse">
            <a:avLst/>
          </a:prstGeom>
          <a:solidFill>
            <a:srgbClr val="0F335A"/>
          </a:solidFill>
          <a:ln/>
        </p:spPr>
      </p:sp>
      <p:pic>
        <p:nvPicPr>
          <p:cNvPr id="34" name="Image 8" descr="/home/claude/osec/icons/clipboardCheck_cyan.png">    </p:cNvPr>
          <p:cNvPicPr>
            <a:picLocks noChangeAspect="1"/>
          </p:cNvPicPr>
          <p:nvPr/>
        </p:nvPicPr>
        <p:blipFill>
          <a:blip r:embed="rId9"/>
          <a:stretch>
            <a:fillRect/>
          </a:stretch>
        </p:blipFill>
        <p:spPr>
          <a:xfrm>
            <a:off x="6786220" y="4116172"/>
            <a:ext cx="271577" cy="271577"/>
          </a:xfrm>
          <a:prstGeom prst="rect">
            <a:avLst/>
          </a:prstGeom>
        </p:spPr>
      </p:pic>
      <p:sp>
        <p:nvSpPr>
          <p:cNvPr id="35" name="Text 24"/>
          <p:cNvSpPr/>
          <p:nvPr/>
        </p:nvSpPr>
        <p:spPr>
          <a:xfrm>
            <a:off x="7315200" y="3922776"/>
            <a:ext cx="384048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Verify Bootloader Signature</a:t>
            </a:r>
            <a:endParaRPr lang="en-US" sz="1300" dirty="0"/>
          </a:p>
        </p:txBody>
      </p:sp>
      <p:pic>
        <p:nvPicPr>
          <p:cNvPr id="36" name="Image 9" descr="/home/claude/osec/icons/arrowRight_cyan.png">    </p:cNvPr>
          <p:cNvPicPr>
            <a:picLocks noChangeAspect="1"/>
          </p:cNvPicPr>
          <p:nvPr/>
        </p:nvPicPr>
        <p:blipFill>
          <a:blip r:embed="rId10"/>
          <a:stretch>
            <a:fillRect/>
          </a:stretch>
        </p:blipFill>
        <p:spPr>
          <a:xfrm rot="5400000">
            <a:off x="8778240" y="4599432"/>
            <a:ext cx="219456" cy="219456"/>
          </a:xfrm>
          <a:prstGeom prst="rect">
            <a:avLst/>
          </a:prstGeom>
        </p:spPr>
      </p:pic>
      <p:sp>
        <p:nvSpPr>
          <p:cNvPr id="37" name="Shape 25"/>
          <p:cNvSpPr/>
          <p:nvPr/>
        </p:nvSpPr>
        <p:spPr>
          <a:xfrm>
            <a:off x="6492240" y="4855464"/>
            <a:ext cx="4800600" cy="658368"/>
          </a:xfrm>
          <a:prstGeom prst="roundRect">
            <a:avLst>
              <a:gd name="adj" fmla="val 12500"/>
            </a:avLst>
          </a:prstGeom>
          <a:solidFill>
            <a:srgbClr val="13315C"/>
          </a:solidFill>
          <a:ln/>
        </p:spPr>
      </p:sp>
      <p:sp>
        <p:nvSpPr>
          <p:cNvPr id="38" name="Shape 26"/>
          <p:cNvSpPr/>
          <p:nvPr/>
        </p:nvSpPr>
        <p:spPr>
          <a:xfrm>
            <a:off x="6675120" y="4937760"/>
            <a:ext cx="493776" cy="493776"/>
          </a:xfrm>
          <a:prstGeom prst="ellipse">
            <a:avLst/>
          </a:prstGeom>
          <a:solidFill>
            <a:srgbClr val="0F335A"/>
          </a:solidFill>
          <a:ln/>
        </p:spPr>
      </p:sp>
      <p:pic>
        <p:nvPicPr>
          <p:cNvPr id="39" name="Image 10" descr="/home/claude/osec/icons/desktop_cyan.png">    </p:cNvPr>
          <p:cNvPicPr>
            <a:picLocks noChangeAspect="1"/>
          </p:cNvPicPr>
          <p:nvPr/>
        </p:nvPicPr>
        <p:blipFill>
          <a:blip r:embed="rId11"/>
          <a:stretch>
            <a:fillRect/>
          </a:stretch>
        </p:blipFill>
        <p:spPr>
          <a:xfrm>
            <a:off x="6786220" y="5048860"/>
            <a:ext cx="271577" cy="271577"/>
          </a:xfrm>
          <a:prstGeom prst="rect">
            <a:avLst/>
          </a:prstGeom>
        </p:spPr>
      </p:pic>
      <p:sp>
        <p:nvSpPr>
          <p:cNvPr id="40" name="Text 27"/>
          <p:cNvSpPr/>
          <p:nvPr/>
        </p:nvSpPr>
        <p:spPr>
          <a:xfrm>
            <a:off x="7315200" y="4855464"/>
            <a:ext cx="3840480" cy="65836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Load Operating System</a:t>
            </a:r>
            <a:endParaRPr lang="en-US" sz="1300" dirty="0"/>
          </a:p>
        </p:txBody>
      </p:sp>
      <p:sp>
        <p:nvSpPr>
          <p:cNvPr id="41" name="Text 28"/>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5B6B7A"/>
                </a:solidFill>
                <a:latin typeface="Calibri" pitchFamily="34" charset="0"/>
                <a:ea typeface="Calibri" pitchFamily="34" charset="-122"/>
                <a:cs typeface="Calibri" pitchFamily="34" charset="-120"/>
              </a:rPr>
              <a:t>6</a:t>
            </a:r>
            <a:endParaRPr lang="en-US" sz="1100" dirty="0"/>
          </a:p>
        </p:txBody>
      </p:sp>
      <p:sp>
        <p:nvSpPr>
          <p:cNvPr id="42" name="Text 29"/>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B7C3CC"/>
                </a:solidFill>
                <a:latin typeface="Calibri" pitchFamily="34" charset="0"/>
                <a:ea typeface="Calibri" pitchFamily="34" charset="-122"/>
                <a:cs typeface="Calibri" pitchFamily="34" charset="-120"/>
              </a:rPr>
              <a:t>Modern Operating System Security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7315200" cy="5486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1280160"/>
            <a:ext cx="2148840" cy="2286000"/>
          </a:xfrm>
          <a:prstGeom prst="roundRect">
            <a:avLst>
              <a:gd name="adj" fmla="val 4255"/>
            </a:avLst>
          </a:prstGeom>
          <a:solidFill>
            <a:srgbClr val="13315C"/>
          </a:solidFill>
          <a:ln/>
        </p:spPr>
      </p:sp>
      <p:sp>
        <p:nvSpPr>
          <p:cNvPr id="4" name="Shape 2"/>
          <p:cNvSpPr/>
          <p:nvPr/>
        </p:nvSpPr>
        <p:spPr>
          <a:xfrm>
            <a:off x="1234440" y="1508760"/>
            <a:ext cx="777240" cy="777240"/>
          </a:xfrm>
          <a:prstGeom prst="ellipse">
            <a:avLst/>
          </a:prstGeom>
          <a:solidFill>
            <a:srgbClr val="0F335A"/>
          </a:solidFill>
          <a:ln/>
        </p:spPr>
      </p:sp>
      <p:pic>
        <p:nvPicPr>
          <p:cNvPr id="5" name="Image 0" descr="/home/claude/osec/icons/key_cyan.png">    </p:cNvPr>
          <p:cNvPicPr>
            <a:picLocks noChangeAspect="1"/>
          </p:cNvPicPr>
          <p:nvPr/>
        </p:nvPicPr>
        <p:blipFill>
          <a:blip r:embed="rId1"/>
          <a:stretch>
            <a:fillRect/>
          </a:stretch>
        </p:blipFill>
        <p:spPr>
          <a:xfrm>
            <a:off x="1409319" y="1683639"/>
            <a:ext cx="427482" cy="427482"/>
          </a:xfrm>
          <a:prstGeom prst="rect">
            <a:avLst/>
          </a:prstGeom>
        </p:spPr>
      </p:pic>
      <p:sp>
        <p:nvSpPr>
          <p:cNvPr id="6" name="Text 3"/>
          <p:cNvSpPr/>
          <p:nvPr/>
        </p:nvSpPr>
        <p:spPr>
          <a:xfrm>
            <a:off x="658368" y="2423160"/>
            <a:ext cx="1929384"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Authentication</a:t>
            </a:r>
            <a:endParaRPr lang="en-US" sz="1300" dirty="0"/>
          </a:p>
        </p:txBody>
      </p:sp>
      <p:sp>
        <p:nvSpPr>
          <p:cNvPr id="7" name="Text 4"/>
          <p:cNvSpPr/>
          <p:nvPr/>
        </p:nvSpPr>
        <p:spPr>
          <a:xfrm>
            <a:off x="685800" y="2834640"/>
            <a:ext cx="1874520" cy="685800"/>
          </a:xfrm>
          <a:prstGeom prst="rect">
            <a:avLst/>
          </a:prstGeom>
          <a:noFill/>
          <a:ln/>
        </p:spPr>
        <p:txBody>
          <a:bodyPr wrap="square" rtlCol="0" anchor="ctr"/>
          <a:lstStyle/>
          <a:p>
            <a:pPr algn="ctr" indent="0" marL="0">
              <a:lnSpc>
                <a:spcPct val="110000"/>
              </a:lnSpc>
              <a:buNone/>
            </a:pPr>
            <a:r>
              <a:rPr lang="en-US" sz="1050" dirty="0">
                <a:solidFill>
                  <a:srgbClr val="9FBBDA"/>
                </a:solidFill>
                <a:latin typeface="Calibri" pitchFamily="34" charset="0"/>
                <a:ea typeface="Calibri" pitchFamily="34" charset="-122"/>
                <a:cs typeface="Calibri" pitchFamily="34" charset="-120"/>
              </a:rPr>
              <a:t>Verifies user identity before granting access.</a:t>
            </a:r>
            <a:endParaRPr lang="en-US" sz="1050" dirty="0"/>
          </a:p>
        </p:txBody>
      </p:sp>
      <p:sp>
        <p:nvSpPr>
          <p:cNvPr id="8" name="Shape 5"/>
          <p:cNvSpPr/>
          <p:nvPr/>
        </p:nvSpPr>
        <p:spPr>
          <a:xfrm>
            <a:off x="2834640" y="1280160"/>
            <a:ext cx="2148840" cy="2286000"/>
          </a:xfrm>
          <a:prstGeom prst="roundRect">
            <a:avLst>
              <a:gd name="adj" fmla="val 4255"/>
            </a:avLst>
          </a:prstGeom>
          <a:solidFill>
            <a:srgbClr val="13315C"/>
          </a:solidFill>
          <a:ln/>
        </p:spPr>
      </p:sp>
      <p:sp>
        <p:nvSpPr>
          <p:cNvPr id="9" name="Shape 6"/>
          <p:cNvSpPr/>
          <p:nvPr/>
        </p:nvSpPr>
        <p:spPr>
          <a:xfrm>
            <a:off x="3520440" y="1508760"/>
            <a:ext cx="777240" cy="777240"/>
          </a:xfrm>
          <a:prstGeom prst="ellipse">
            <a:avLst/>
          </a:prstGeom>
          <a:solidFill>
            <a:srgbClr val="0F335A"/>
          </a:solidFill>
          <a:ln/>
        </p:spPr>
      </p:sp>
      <p:pic>
        <p:nvPicPr>
          <p:cNvPr id="10" name="Image 1" descr="/home/claude/osec/icons/userShield_cyan.png">    </p:cNvPr>
          <p:cNvPicPr>
            <a:picLocks noChangeAspect="1"/>
          </p:cNvPicPr>
          <p:nvPr/>
        </p:nvPicPr>
        <p:blipFill>
          <a:blip r:embed="rId2"/>
          <a:stretch>
            <a:fillRect/>
          </a:stretch>
        </p:blipFill>
        <p:spPr>
          <a:xfrm>
            <a:off x="3695319" y="1683639"/>
            <a:ext cx="427482" cy="427482"/>
          </a:xfrm>
          <a:prstGeom prst="rect">
            <a:avLst/>
          </a:prstGeom>
        </p:spPr>
      </p:pic>
      <p:sp>
        <p:nvSpPr>
          <p:cNvPr id="11" name="Text 7"/>
          <p:cNvSpPr/>
          <p:nvPr/>
        </p:nvSpPr>
        <p:spPr>
          <a:xfrm>
            <a:off x="2944368" y="2423160"/>
            <a:ext cx="1929384"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Access Control</a:t>
            </a:r>
            <a:endParaRPr lang="en-US" sz="1300" dirty="0"/>
          </a:p>
        </p:txBody>
      </p:sp>
      <p:sp>
        <p:nvSpPr>
          <p:cNvPr id="12" name="Text 8"/>
          <p:cNvSpPr/>
          <p:nvPr/>
        </p:nvSpPr>
        <p:spPr>
          <a:xfrm>
            <a:off x="2971800" y="2834640"/>
            <a:ext cx="1874520" cy="685800"/>
          </a:xfrm>
          <a:prstGeom prst="rect">
            <a:avLst/>
          </a:prstGeom>
          <a:noFill/>
          <a:ln/>
        </p:spPr>
        <p:txBody>
          <a:bodyPr wrap="square" rtlCol="0" anchor="ctr"/>
          <a:lstStyle/>
          <a:p>
            <a:pPr algn="ctr" indent="0" marL="0">
              <a:lnSpc>
                <a:spcPct val="110000"/>
              </a:lnSpc>
              <a:buNone/>
            </a:pPr>
            <a:r>
              <a:rPr lang="en-US" sz="1050" dirty="0">
                <a:solidFill>
                  <a:srgbClr val="9FBBDA"/>
                </a:solidFill>
                <a:latin typeface="Calibri" pitchFamily="34" charset="0"/>
                <a:ea typeface="Calibri" pitchFamily="34" charset="-122"/>
                <a:cs typeface="Calibri" pitchFamily="34" charset="-120"/>
              </a:rPr>
              <a:t>Limits permissions based on role and need.</a:t>
            </a:r>
            <a:endParaRPr lang="en-US" sz="1050" dirty="0"/>
          </a:p>
        </p:txBody>
      </p:sp>
      <p:sp>
        <p:nvSpPr>
          <p:cNvPr id="13" name="Shape 9"/>
          <p:cNvSpPr/>
          <p:nvPr/>
        </p:nvSpPr>
        <p:spPr>
          <a:xfrm>
            <a:off x="5120640" y="1280160"/>
            <a:ext cx="2148840" cy="2286000"/>
          </a:xfrm>
          <a:prstGeom prst="roundRect">
            <a:avLst>
              <a:gd name="adj" fmla="val 4255"/>
            </a:avLst>
          </a:prstGeom>
          <a:solidFill>
            <a:srgbClr val="13315C"/>
          </a:solidFill>
          <a:ln/>
        </p:spPr>
      </p:sp>
      <p:sp>
        <p:nvSpPr>
          <p:cNvPr id="14" name="Shape 10"/>
          <p:cNvSpPr/>
          <p:nvPr/>
        </p:nvSpPr>
        <p:spPr>
          <a:xfrm>
            <a:off x="5806440" y="1508760"/>
            <a:ext cx="777240" cy="777240"/>
          </a:xfrm>
          <a:prstGeom prst="ellipse">
            <a:avLst/>
          </a:prstGeom>
          <a:solidFill>
            <a:srgbClr val="0F335A"/>
          </a:solidFill>
          <a:ln/>
        </p:spPr>
      </p:sp>
      <p:pic>
        <p:nvPicPr>
          <p:cNvPr id="15" name="Image 2" descr="/home/claude/osec/icons/lock_cyan.png">    </p:cNvPr>
          <p:cNvPicPr>
            <a:picLocks noChangeAspect="1"/>
          </p:cNvPicPr>
          <p:nvPr/>
        </p:nvPicPr>
        <p:blipFill>
          <a:blip r:embed="rId3"/>
          <a:stretch>
            <a:fillRect/>
          </a:stretch>
        </p:blipFill>
        <p:spPr>
          <a:xfrm>
            <a:off x="5981319" y="1683639"/>
            <a:ext cx="427482" cy="427482"/>
          </a:xfrm>
          <a:prstGeom prst="rect">
            <a:avLst/>
          </a:prstGeom>
        </p:spPr>
      </p:pic>
      <p:sp>
        <p:nvSpPr>
          <p:cNvPr id="16" name="Text 11"/>
          <p:cNvSpPr/>
          <p:nvPr/>
        </p:nvSpPr>
        <p:spPr>
          <a:xfrm>
            <a:off x="5230368" y="2423160"/>
            <a:ext cx="1929384"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Encryption</a:t>
            </a:r>
            <a:endParaRPr lang="en-US" sz="1300" dirty="0"/>
          </a:p>
        </p:txBody>
      </p:sp>
      <p:sp>
        <p:nvSpPr>
          <p:cNvPr id="17" name="Text 12"/>
          <p:cNvSpPr/>
          <p:nvPr/>
        </p:nvSpPr>
        <p:spPr>
          <a:xfrm>
            <a:off x="5257800" y="2834640"/>
            <a:ext cx="1874520" cy="685800"/>
          </a:xfrm>
          <a:prstGeom prst="rect">
            <a:avLst/>
          </a:prstGeom>
          <a:noFill/>
          <a:ln/>
        </p:spPr>
        <p:txBody>
          <a:bodyPr wrap="square" rtlCol="0" anchor="ctr"/>
          <a:lstStyle/>
          <a:p>
            <a:pPr algn="ctr" indent="0" marL="0">
              <a:lnSpc>
                <a:spcPct val="110000"/>
              </a:lnSpc>
              <a:buNone/>
            </a:pPr>
            <a:r>
              <a:rPr lang="en-US" sz="1050" dirty="0">
                <a:solidFill>
                  <a:srgbClr val="9FBBDA"/>
                </a:solidFill>
                <a:latin typeface="Calibri" pitchFamily="34" charset="0"/>
                <a:ea typeface="Calibri" pitchFamily="34" charset="-122"/>
                <a:cs typeface="Calibri" pitchFamily="34" charset="-120"/>
              </a:rPr>
              <a:t>Protects sensitive data at rest and in transit.</a:t>
            </a:r>
            <a:endParaRPr lang="en-US" sz="1050" dirty="0"/>
          </a:p>
        </p:txBody>
      </p:sp>
      <p:sp>
        <p:nvSpPr>
          <p:cNvPr id="18" name="Shape 13"/>
          <p:cNvSpPr/>
          <p:nvPr/>
        </p:nvSpPr>
        <p:spPr>
          <a:xfrm>
            <a:off x="7406640" y="1280160"/>
            <a:ext cx="2148840" cy="2286000"/>
          </a:xfrm>
          <a:prstGeom prst="roundRect">
            <a:avLst>
              <a:gd name="adj" fmla="val 4255"/>
            </a:avLst>
          </a:prstGeom>
          <a:solidFill>
            <a:srgbClr val="13315C"/>
          </a:solidFill>
          <a:ln/>
        </p:spPr>
      </p:sp>
      <p:sp>
        <p:nvSpPr>
          <p:cNvPr id="19" name="Shape 14"/>
          <p:cNvSpPr/>
          <p:nvPr/>
        </p:nvSpPr>
        <p:spPr>
          <a:xfrm>
            <a:off x="8092440" y="1508760"/>
            <a:ext cx="777240" cy="777240"/>
          </a:xfrm>
          <a:prstGeom prst="ellipse">
            <a:avLst/>
          </a:prstGeom>
          <a:solidFill>
            <a:srgbClr val="0F335A"/>
          </a:solidFill>
          <a:ln/>
        </p:spPr>
      </p:sp>
      <p:pic>
        <p:nvPicPr>
          <p:cNvPr id="20" name="Image 3" descr="/home/claude/osec/icons/shieldVirus_cyan.png">    </p:cNvPr>
          <p:cNvPicPr>
            <a:picLocks noChangeAspect="1"/>
          </p:cNvPicPr>
          <p:nvPr/>
        </p:nvPicPr>
        <p:blipFill>
          <a:blip r:embed="rId4"/>
          <a:stretch>
            <a:fillRect/>
          </a:stretch>
        </p:blipFill>
        <p:spPr>
          <a:xfrm>
            <a:off x="8267319" y="1683639"/>
            <a:ext cx="427482" cy="427482"/>
          </a:xfrm>
          <a:prstGeom prst="rect">
            <a:avLst/>
          </a:prstGeom>
        </p:spPr>
      </p:pic>
      <p:sp>
        <p:nvSpPr>
          <p:cNvPr id="21" name="Text 15"/>
          <p:cNvSpPr/>
          <p:nvPr/>
        </p:nvSpPr>
        <p:spPr>
          <a:xfrm>
            <a:off x="7516368" y="2423160"/>
            <a:ext cx="1929384"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Malware Protection</a:t>
            </a:r>
            <a:endParaRPr lang="en-US" sz="1300" dirty="0"/>
          </a:p>
        </p:txBody>
      </p:sp>
      <p:sp>
        <p:nvSpPr>
          <p:cNvPr id="22" name="Text 16"/>
          <p:cNvSpPr/>
          <p:nvPr/>
        </p:nvSpPr>
        <p:spPr>
          <a:xfrm>
            <a:off x="7543800" y="2834640"/>
            <a:ext cx="1874520" cy="685800"/>
          </a:xfrm>
          <a:prstGeom prst="rect">
            <a:avLst/>
          </a:prstGeom>
          <a:noFill/>
          <a:ln/>
        </p:spPr>
        <p:txBody>
          <a:bodyPr wrap="square" rtlCol="0" anchor="ctr"/>
          <a:lstStyle/>
          <a:p>
            <a:pPr algn="ctr" indent="0" marL="0">
              <a:lnSpc>
                <a:spcPct val="110000"/>
              </a:lnSpc>
              <a:buNone/>
            </a:pPr>
            <a:r>
              <a:rPr lang="en-US" sz="1050" dirty="0">
                <a:solidFill>
                  <a:srgbClr val="9FBBDA"/>
                </a:solidFill>
                <a:latin typeface="Calibri" pitchFamily="34" charset="0"/>
                <a:ea typeface="Calibri" pitchFamily="34" charset="-122"/>
                <a:cs typeface="Calibri" pitchFamily="34" charset="-120"/>
              </a:rPr>
              <a:t>Detects and prevents malicious attacks.</a:t>
            </a:r>
            <a:endParaRPr lang="en-US" sz="1050" dirty="0"/>
          </a:p>
        </p:txBody>
      </p:sp>
      <p:sp>
        <p:nvSpPr>
          <p:cNvPr id="23" name="Shape 17"/>
          <p:cNvSpPr/>
          <p:nvPr/>
        </p:nvSpPr>
        <p:spPr>
          <a:xfrm>
            <a:off x="9692640" y="1280160"/>
            <a:ext cx="2148840" cy="2286000"/>
          </a:xfrm>
          <a:prstGeom prst="roundRect">
            <a:avLst>
              <a:gd name="adj" fmla="val 4255"/>
            </a:avLst>
          </a:prstGeom>
          <a:solidFill>
            <a:srgbClr val="13315C"/>
          </a:solidFill>
          <a:ln/>
        </p:spPr>
      </p:sp>
      <p:sp>
        <p:nvSpPr>
          <p:cNvPr id="24" name="Shape 18"/>
          <p:cNvSpPr/>
          <p:nvPr/>
        </p:nvSpPr>
        <p:spPr>
          <a:xfrm>
            <a:off x="10378440" y="1508760"/>
            <a:ext cx="777240" cy="777240"/>
          </a:xfrm>
          <a:prstGeom prst="ellipse">
            <a:avLst/>
          </a:prstGeom>
          <a:solidFill>
            <a:srgbClr val="0F335A"/>
          </a:solidFill>
          <a:ln/>
        </p:spPr>
      </p:sp>
      <p:pic>
        <p:nvPicPr>
          <p:cNvPr id="25" name="Image 4" descr="/home/claude/osec/icons/checkCircle_cyan.png">    </p:cNvPr>
          <p:cNvPicPr>
            <a:picLocks noChangeAspect="1"/>
          </p:cNvPicPr>
          <p:nvPr/>
        </p:nvPicPr>
        <p:blipFill>
          <a:blip r:embed="rId5"/>
          <a:stretch>
            <a:fillRect/>
          </a:stretch>
        </p:blipFill>
        <p:spPr>
          <a:xfrm>
            <a:off x="10553319" y="1683639"/>
            <a:ext cx="427482" cy="427482"/>
          </a:xfrm>
          <a:prstGeom prst="rect">
            <a:avLst/>
          </a:prstGeom>
        </p:spPr>
      </p:pic>
      <p:sp>
        <p:nvSpPr>
          <p:cNvPr id="26" name="Text 19"/>
          <p:cNvSpPr/>
          <p:nvPr/>
        </p:nvSpPr>
        <p:spPr>
          <a:xfrm>
            <a:off x="9802368" y="2423160"/>
            <a:ext cx="1929384" cy="4114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Secure Boot</a:t>
            </a:r>
            <a:endParaRPr lang="en-US" sz="1300" dirty="0"/>
          </a:p>
        </p:txBody>
      </p:sp>
      <p:sp>
        <p:nvSpPr>
          <p:cNvPr id="27" name="Text 20"/>
          <p:cNvSpPr/>
          <p:nvPr/>
        </p:nvSpPr>
        <p:spPr>
          <a:xfrm>
            <a:off x="9829800" y="2834640"/>
            <a:ext cx="1874520" cy="685800"/>
          </a:xfrm>
          <a:prstGeom prst="rect">
            <a:avLst/>
          </a:prstGeom>
          <a:noFill/>
          <a:ln/>
        </p:spPr>
        <p:txBody>
          <a:bodyPr wrap="square" rtlCol="0" anchor="ctr"/>
          <a:lstStyle/>
          <a:p>
            <a:pPr algn="ctr" indent="0" marL="0">
              <a:lnSpc>
                <a:spcPct val="110000"/>
              </a:lnSpc>
              <a:buNone/>
            </a:pPr>
            <a:r>
              <a:rPr lang="en-US" sz="1050" dirty="0">
                <a:solidFill>
                  <a:srgbClr val="9FBBDA"/>
                </a:solidFill>
                <a:latin typeface="Calibri" pitchFamily="34" charset="0"/>
                <a:ea typeface="Calibri" pitchFamily="34" charset="-122"/>
                <a:cs typeface="Calibri" pitchFamily="34" charset="-120"/>
              </a:rPr>
              <a:t>Ensures every startup is trustworthy.</a:t>
            </a:r>
            <a:endParaRPr lang="en-US" sz="1050" dirty="0"/>
          </a:p>
        </p:txBody>
      </p:sp>
      <p:sp>
        <p:nvSpPr>
          <p:cNvPr id="28" name="Shape 21"/>
          <p:cNvSpPr/>
          <p:nvPr/>
        </p:nvSpPr>
        <p:spPr>
          <a:xfrm>
            <a:off x="548640" y="3977640"/>
            <a:ext cx="11064240" cy="1234440"/>
          </a:xfrm>
          <a:prstGeom prst="roundRect">
            <a:avLst>
              <a:gd name="adj" fmla="val 8889"/>
            </a:avLst>
          </a:prstGeom>
          <a:solidFill>
            <a:srgbClr val="0F335A"/>
          </a:solidFill>
          <a:ln/>
        </p:spPr>
      </p:sp>
      <p:sp>
        <p:nvSpPr>
          <p:cNvPr id="29" name="Text 22"/>
          <p:cNvSpPr/>
          <p:nvPr/>
        </p:nvSpPr>
        <p:spPr>
          <a:xfrm>
            <a:off x="914400" y="3977640"/>
            <a:ext cx="10332720" cy="1234440"/>
          </a:xfrm>
          <a:prstGeom prst="rect">
            <a:avLst/>
          </a:prstGeom>
          <a:noFill/>
          <a:ln/>
        </p:spPr>
        <p:txBody>
          <a:bodyPr wrap="square" rtlCol="0" anchor="ctr"/>
          <a:lstStyle/>
          <a:p>
            <a:pPr algn="ctr" indent="0" marL="0">
              <a:lnSpc>
                <a:spcPct val="120000"/>
              </a:lnSpc>
              <a:buNone/>
            </a:pPr>
            <a:r>
              <a:rPr lang="en-US" sz="1800" i="1" dirty="0">
                <a:solidFill>
                  <a:srgbClr val="FFFFFF"/>
                </a:solidFill>
                <a:latin typeface="Cambria" pitchFamily="34" charset="0"/>
                <a:ea typeface="Cambria" pitchFamily="34" charset="-122"/>
                <a:cs typeface="Cambria" pitchFamily="34" charset="-120"/>
              </a:rPr>
              <a:t>“A secure operating system is the foundation of a secure computing environment.”</a:t>
            </a:r>
            <a:endParaRPr lang="en-US" sz="1800" dirty="0"/>
          </a:p>
        </p:txBody>
      </p:sp>
      <p:sp>
        <p:nvSpPr>
          <p:cNvPr id="30" name="Shape 23"/>
          <p:cNvSpPr/>
          <p:nvPr/>
        </p:nvSpPr>
        <p:spPr>
          <a:xfrm>
            <a:off x="5394960" y="5440680"/>
            <a:ext cx="548640" cy="548640"/>
          </a:xfrm>
          <a:prstGeom prst="ellipse">
            <a:avLst/>
          </a:prstGeom>
          <a:solidFill>
            <a:srgbClr val="13315C"/>
          </a:solidFill>
          <a:ln/>
        </p:spPr>
      </p:sp>
      <p:pic>
        <p:nvPicPr>
          <p:cNvPr id="31" name="Image 5" descr="/home/claude/osec/icons/question_cyan.png">    </p:cNvPr>
          <p:cNvPicPr>
            <a:picLocks noChangeAspect="1"/>
          </p:cNvPicPr>
          <p:nvPr/>
        </p:nvPicPr>
        <p:blipFill>
          <a:blip r:embed="rId6"/>
          <a:stretch>
            <a:fillRect/>
          </a:stretch>
        </p:blipFill>
        <p:spPr>
          <a:xfrm>
            <a:off x="5518404" y="5564124"/>
            <a:ext cx="301752" cy="301752"/>
          </a:xfrm>
          <a:prstGeom prst="rect">
            <a:avLst/>
          </a:prstGeom>
        </p:spPr>
      </p:pic>
      <p:sp>
        <p:nvSpPr>
          <p:cNvPr id="32" name="Text 24"/>
          <p:cNvSpPr/>
          <p:nvPr/>
        </p:nvSpPr>
        <p:spPr>
          <a:xfrm>
            <a:off x="6035040" y="5440680"/>
            <a:ext cx="3657600" cy="5486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Thank You  •  Questions?</a:t>
            </a:r>
            <a:endParaRPr lang="en-US" sz="1500" dirty="0"/>
          </a:p>
        </p:txBody>
      </p:sp>
      <p:sp>
        <p:nvSpPr>
          <p:cNvPr id="33" name="Text 25"/>
          <p:cNvSpPr/>
          <p:nvPr/>
        </p:nvSpPr>
        <p:spPr>
          <a:xfrm>
            <a:off x="11548872" y="6400800"/>
            <a:ext cx="365760" cy="274320"/>
          </a:xfrm>
          <a:prstGeom prst="rect">
            <a:avLst/>
          </a:prstGeom>
          <a:noFill/>
          <a:ln/>
        </p:spPr>
        <p:txBody>
          <a:bodyPr wrap="square" rtlCol="0" anchor="ctr"/>
          <a:lstStyle/>
          <a:p>
            <a:pPr algn="r" indent="0" marL="0">
              <a:buNone/>
            </a:pPr>
            <a:r>
              <a:rPr lang="en-US" sz="1100" dirty="0">
                <a:solidFill>
                  <a:srgbClr val="AFC6E0"/>
                </a:solidFill>
                <a:latin typeface="Calibri" pitchFamily="34" charset="0"/>
                <a:ea typeface="Calibri" pitchFamily="34" charset="-122"/>
                <a:cs typeface="Calibri" pitchFamily="34" charset="-120"/>
              </a:rPr>
              <a:t>7</a:t>
            </a:r>
            <a:endParaRPr lang="en-US" sz="1100" dirty="0"/>
          </a:p>
        </p:txBody>
      </p:sp>
      <p:sp>
        <p:nvSpPr>
          <p:cNvPr id="34" name="Text 26"/>
          <p:cNvSpPr/>
          <p:nvPr/>
        </p:nvSpPr>
        <p:spPr>
          <a:xfrm>
            <a:off x="457200" y="6400800"/>
            <a:ext cx="5486400" cy="274320"/>
          </a:xfrm>
          <a:prstGeom prst="rect">
            <a:avLst/>
          </a:prstGeom>
          <a:noFill/>
          <a:ln/>
        </p:spPr>
        <p:txBody>
          <a:bodyPr wrap="square" rtlCol="0" anchor="ctr"/>
          <a:lstStyle/>
          <a:p>
            <a:pPr indent="0" marL="0">
              <a:buNone/>
            </a:pPr>
            <a:r>
              <a:rPr lang="en-US" sz="1000" dirty="0">
                <a:solidFill>
                  <a:srgbClr val="6C8CB5"/>
                </a:solidFill>
                <a:latin typeface="Calibri" pitchFamily="34" charset="0"/>
                <a:ea typeface="Calibri" pitchFamily="34" charset="-122"/>
                <a:cs typeface="Calibri" pitchFamily="34" charset="-120"/>
              </a:rPr>
              <a:t>Modern Operating System Security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2026-07-22T04:21:55Z</dcterms:created>
  <dcterms:modified xsi:type="dcterms:W3CDTF">2026-07-22T04:21:55Z</dcterms:modified>
</cp:coreProperties>
</file>